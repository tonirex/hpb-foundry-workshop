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workshop in the LiveWell Coach scenario, not in generic platform messaging. Set the expectation that participants will build, govern and extend a real agent during the day. Call out that the date and logistics are read from the workshop configuration so the generated deck stays tenant-portable.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time contract for the room and keep the morning demo-heavy. Point out where each Foundry capability becomes hands-on later in the day. Gate: move into logistics once everyone understands the afternoon build has three parts: Build, Govern and Extend.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this before anyone opens the portal because sign-in is the first likely delay. Use the TODO labels visibly if the final Wi-Fi values have not been confirmed. Ask participants to use their own workshop account (the username on their sign-in card) for all Foundry and Fabric steps. Gate: move on when everyone has Wi-Fi, Authenticator registration started and the correct account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today's workshop to the Resident 360 Fabric workshop the cohort already completed. The first four chevrons are what Fabric built: a governed data estate that can converse over Resident 360. Today Foundry adds the coach that talks to the citizen, applies policy and takes approved action. Gate: move on when the room can say what Fabric owns and what Foundry adds.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Rahim as the citizen seat and Mei Lin as the officer seat before the labs begin. Do not read the full narrative; use one line per chapter to explain why each capability matters. Emphasise the routing rule: Rahim's guidance comes from Foundry IQ, his profile and memory. He reaches Fabric once, with an age-band cohort question that never carries his name. Mei Lin's programme and region questions go to Fabric. Gate: move on when participants can tell which seat owns which question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two user seats enter one LiveWell Coach, and the coach chooses the right knowledge or tool surface. Call out that Fabric is not a citizen-profile lookup path; it only answers governed aggregate questions: Mei Lin's region and programme questions, and Rahim's one age-band cohort question. Point to the memory, guardrails and tracing line as the governance spine across every route. Gate: move on when the room can explain why a Rahim prompt and a Mei Lin prompt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feature map for the day. Explain that Build is where agents and knowledge are assembled, Govern is where behaviour is constrained and measured, and Extend is where tools, Fabric and hosted deployment come in. Preview labels are intentional so participants know what should not become an unlabelled production dependency. Gate: move on when participants see that the labs cover platform, governance and integration surfaces.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0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1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2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3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Fabric step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4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from the prior Fabric workshop into today's Foundry agent. The left side is the data estate they already understand; the right side is the agent control surface they build today. Use the arrow to explain that Foundry does not replace Fabric; it calls the right Fabric surface for governed business questions. Gate: move on when the room can place Foundry IQ and Fabric IQ on different sides of the bridge.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these as competing products. Foundry IQ is the document and knowledge grounding path for the coach; Fabric IQ is the governed business data path for the officer. Use the examples row to show that Rahim's guidance stays in Foundry IQ; Fabric only answers aggregate questions, from Mei Lin or from Rahim's one age-band cohort question. Gate: move on when participants can choose the correct IQ for a new prompt.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implementation decision slide for architects. The Fabric IQ tool is the workshop path because it is closest to the cohort's published data agent. The OneLake knowledge-source and ontology MCP paths are preview options, so label them and avoid promising production behaviour. Gate: move on after naming the prerequisites for the path Antonia will demo.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default and custom ladder live if the environment is healthy; otherwise use the pre-captured traces. The result columns are the expected outcomes from Lab 2: the custom policy moves guardrail blocks from 1 of 7 to 4 of 7. Explain block versus annotate: at or above the threshold the request is blocked (HTTP 400, red banner, Failed trace); below it the answer goes through and the severity is recorded. The dose-reminder row is the cost of a stricter control. Batch evaluation is a code walkthrough, not a participant run: show the completed shared v1/v2 results. Launching several judges per row across the room can exhaust quota and exceed the lab time. Gate: move on when every table has at least one production policy they would require.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sponsorship safety: the low path is the intended operating mode, not the high path. Explain that Fabric F2 is cheap during the workshop but expensive if left running all month. Controls are part of the design, not afterthoughts: shared search, small models, caps, budget alerts and teardown. Gate: move on after naming who owns teardown and capacity pause.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practical: the workshop repo first, then official repos and Learn titles. Do not send participants to generic marketing pages; these are the artefacts Antonia can merge into the master deck. If URLs are added later, keep them to GitHub or Microsoft Learn. Gate: close the setup section when participants know where the labs and references live.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ten agentic patterns so the workshop feels intentional rather than a sequence of tool demos. Ask participants to name which patterns they saw in their own checkpoint evidence. The extended arc is the final takeaway: Fabric sees and governs the data; Foundry coaches, governs the interaction and acts with approval. Gate: finish when the room can repeat Unify to Coach &amp; Act in their own words.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234440"/>
            <a:ext cx="10607040" cy="1143000"/>
          </a:xfrm>
          <a:prstGeom prst="rect">
            <a:avLst/>
          </a:prstGeom>
          <a:noFill/>
        </p:spPr>
        <p:txBody>
          <a:bodyPr wrap="square" lIns="73152" rIns="73152" bIns="36576" anchor="t">
            <a:spAutoFit/>
          </a:bodyPr>
          <a:lstStyle/>
          <a:p>
            <a:pPr algn="l">
              <a:defRPr sz="3200" b="1">
                <a:solidFill>
                  <a:srgbClr val="0B2E59"/>
                </a:solidFill>
                <a:latin typeface="Segoe UI"/>
              </a:defRPr>
            </a:pPr>
            <a:r>
              <a:t>LiveWell Coach — build a healthy-living agent with Microsoft Foundry</a:t>
            </a:r>
          </a:p>
        </p:txBody>
      </p:sp>
      <p:sp>
        <p:nvSpPr>
          <p:cNvPr id="4" name="TextBox 3"/>
          <p:cNvSpPr txBox="1"/>
          <p:nvPr/>
        </p:nvSpPr>
        <p:spPr>
          <a:xfrm>
            <a:off x="822960" y="2743200"/>
            <a:ext cx="9601200" cy="457200"/>
          </a:xfrm>
          <a:prstGeom prst="rect">
            <a:avLst/>
          </a:prstGeom>
          <a:noFill/>
        </p:spPr>
        <p:txBody>
          <a:bodyPr wrap="square" lIns="73152" rIns="73152" bIns="36576" anchor="t">
            <a:spAutoFit/>
          </a:bodyPr>
          <a:lstStyle/>
          <a:p>
            <a:pPr algn="l">
              <a:defRPr sz="1800" b="0">
                <a:solidFill>
                  <a:srgbClr val="333333"/>
                </a:solidFill>
                <a:latin typeface="Segoe UI"/>
              </a:defRPr>
            </a:pPr>
            <a:r>
              <a:t>Health Promotion Board (Singapore) · TODO — to be confirmed · Hands-on workshop</a:t>
            </a:r>
          </a:p>
        </p:txBody>
      </p:sp>
      <p:sp>
        <p:nvSpPr>
          <p:cNvPr id="5" name="Rounded Rectangle 4"/>
          <p:cNvSpPr/>
          <p:nvPr/>
        </p:nvSpPr>
        <p:spPr>
          <a:xfrm>
            <a:off x="822960" y="3886200"/>
            <a:ext cx="365760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Day 1 build path</a:t>
            </a:r>
          </a:p>
          <a:p>
            <a:pPr algn="ctr">
              <a:defRPr sz="1400" b="1">
                <a:solidFill>
                  <a:srgbClr val="0B2E59"/>
                </a:solidFill>
                <a:latin typeface="Segoe UI"/>
              </a:defRPr>
            </a:pPr>
            <a:r>
              <a:t>Foundry agents + IQ + guardrails + Fabric bridge</a:t>
            </a:r>
          </a:p>
        </p:txBody>
      </p:sp>
      <p:sp>
        <p:nvSpPr>
          <p:cNvPr id="6" name="TextBox 5"/>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Agenda</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graphicFrame>
        <p:nvGraphicFramePr>
          <p:cNvPr id="7" name="Table 6"/>
          <p:cNvGraphicFramePr>
            <a:graphicFrameLocks noGrp="1"/>
          </p:cNvGraphicFramePr>
          <p:nvPr/>
        </p:nvGraphicFramePr>
        <p:xfrm>
          <a:off x="411480" y="960120"/>
          <a:ext cx="11384280" cy="5349240"/>
        </p:xfrm>
        <a:graphic>
          <a:graphicData uri="http://schemas.openxmlformats.org/drawingml/2006/table">
            <a:tbl>
              <a:tblPr firstRow="1" bandRow="1">
                <a:tableStyleId>{5C22544A-7EE6-4342-B048-85BDC9FD1C3A}</a:tableStyleId>
              </a:tblPr>
              <a:tblGrid>
                <a:gridCol w="685800"/>
                <a:gridCol w="2331720"/>
                <a:gridCol w="4297680"/>
                <a:gridCol w="4069080"/>
              </a:tblGrid>
              <a:tr h="356616">
                <a:tc>
                  <a:txBody>
                    <a:bodyPr wrap="square"/>
                    <a:lstStyle/>
                    <a:p>
                      <a:pPr algn="ctr">
                        <a:defRPr sz="980" b="1">
                          <a:solidFill>
                            <a:srgbClr val="FFFFFF"/>
                          </a:solidFill>
                          <a:latin typeface="Segoe UI"/>
                        </a:defRPr>
                      </a:pPr>
                      <a:r>
                        <a:rPr sz="980" b="1">
                          <a:solidFill>
                            <a:srgbClr val="FFFFFF"/>
                          </a:solidFill>
                          <a:latin typeface="Segoe UI"/>
                        </a:rPr>
                        <a:t>Time</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Block</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Foundry capability shown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Demo / lab</a:t>
                      </a:r>
                    </a:p>
                  </a:txBody>
                  <a:tcPr marL="36576" marR="36576" marT="18288" marB="18288" anchor="ctr">
                    <a:solidFill>
                      <a:srgbClr val="0B2E59"/>
                    </a:solidFill>
                  </a:tcPr>
                </a:tc>
              </a:tr>
              <a:tr h="356616">
                <a:tc>
                  <a:txBody>
                    <a:bodyPr wrap="square"/>
                    <a:lstStyle/>
                    <a:p>
                      <a:pPr algn="l">
                        <a:defRPr sz="869" b="0">
                          <a:solidFill>
                            <a:srgbClr val="333333"/>
                          </a:solidFill>
                          <a:latin typeface="Segoe UI"/>
                        </a:defRPr>
                      </a:pPr>
                      <a:r>
                        <a:rPr sz="869" b="0">
                          <a:solidFill>
                            <a:srgbClr val="333333"/>
                          </a:solidFill>
                          <a:latin typeface="Segoe UI"/>
                        </a:rPr>
                        <a:t>9:00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What is Microsoft Foundry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Unified platform: models, agents, tools, observability,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Portal tour; Fabric arc + today we add Coach &amp; Act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9:30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Foundry Models (20)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Catalogue, Global Standard deployments, quota, reasoning effort, model × tool support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Why two models: gpt-5-mini (Labs 0-2) and gpt-4.1-mini (tools from Lab 3); read model and tokens in the trace</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9:50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Agent Service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Model + instructions + tools; runtime; multi-agent; memory; frameworks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Create LiveWell Coach; structured output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10:15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Micro-Lab 0 (15)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First agent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Everyone ships livewell-&lt;initials&gt;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10:45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Tools &amp; Knowledge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IQ knowledge base; connectors; MCP; Fabric IQ tool</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 Rahim: guide citation; Mei region question</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11:15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Control Plane - CIO lab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Guardrails, tracing, monitoring, evaluation, red teaming, identity, cost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Trip guardrail; trace; eval scorecard; policy checkpoint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Platform architecture (20)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Runtime / tools + knowledge / app layer; identity + observability</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one agent diagram</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12:15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Lunch</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Agent Framework &amp; multi-agent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SDK agents, versioning, orchestration patterns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1 walkthrough; preview Lab 3 Builder code</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Tools, MCP &amp; integration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MCP, approvals, OpenAPI, gateway; Fabric integration paths</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walkthrough; activities MCP approval</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2:50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Evaluation, Guardrails &amp; Security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Built-in + custom evaluators, continuous eval, runtime controls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 walkthrough; compare versions</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3:30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A Build (35)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build</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1</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4:05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Part B Govern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Hands-on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4:35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C Extend (55)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extension</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incl. Fabric step; Lab 4 demo; bridge; close</a:t>
                      </a:r>
                    </a:p>
                  </a:txBody>
                  <a:tcPr marL="36576" marR="36576" marT="18288" marB="18288" anchor="ctr">
                    <a:solidFill>
                      <a:srgbClr val="F7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Guest Wi-Fi &amp; logistics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ounded Rectangle 6"/>
          <p:cNvSpPr/>
          <p:nvPr/>
        </p:nvSpPr>
        <p:spPr>
          <a:xfrm>
            <a:off x="68580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SSID</a:t>
            </a:r>
          </a:p>
          <a:p>
            <a:pPr algn="ctr">
              <a:defRPr sz="1600" b="1">
                <a:solidFill>
                  <a:srgbClr val="0B2E59"/>
                </a:solidFill>
                <a:latin typeface="Segoe UI"/>
              </a:defRPr>
            </a:pPr>
            <a:r>
              <a:t>TODO — to be confirmed</a:t>
            </a:r>
          </a:p>
        </p:txBody>
      </p:sp>
      <p:sp>
        <p:nvSpPr>
          <p:cNvPr id="8" name="Rounded Rectangle 7"/>
          <p:cNvSpPr/>
          <p:nvPr/>
        </p:nvSpPr>
        <p:spPr>
          <a:xfrm>
            <a:off x="626364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code</a:t>
            </a:r>
          </a:p>
          <a:p>
            <a:pPr algn="ctr">
              <a:defRPr sz="1600" b="1">
                <a:solidFill>
                  <a:srgbClr val="0B2E59"/>
                </a:solidFill>
                <a:latin typeface="Segoe UI"/>
              </a:defRPr>
            </a:pPr>
            <a:r>
              <a:t>TODO — to be confirmed</a:t>
            </a:r>
          </a:p>
        </p:txBody>
      </p:sp>
      <p:sp>
        <p:nvSpPr>
          <p:cNvPr id="9" name="TextBox 8"/>
          <p:cNvSpPr txBox="1"/>
          <p:nvPr/>
        </p:nvSpPr>
        <p:spPr>
          <a:xfrm>
            <a:off x="960120" y="2606040"/>
            <a:ext cx="10241280" cy="1965960"/>
          </a:xfrm>
          <a:prstGeom prst="rect">
            <a:avLst/>
          </a:prstGeom>
          <a:noFill/>
        </p:spPr>
        <p:txBody>
          <a:bodyPr wrap="square" lIns="73152" rIns="73152" bIns="36576" anchor="t">
            <a:spAutoFit/>
          </a:bodyPr>
          <a:lstStyle/>
          <a:p>
            <a:pPr algn="l">
              <a:defRPr sz="1500" b="0">
                <a:solidFill>
                  <a:srgbClr val="333333"/>
                </a:solidFill>
                <a:latin typeface="Segoe UI"/>
              </a:defRPr>
            </a:pPr>
            <a:r>
              <a:t>• Bring and use personal laptops; WOG devices cannot sign in to external Entra tenants.</a:t>
            </a:r>
          </a:p>
          <a:p>
            <a:pPr algn="l">
              <a:defRPr sz="1500" b="0">
                <a:solidFill>
                  <a:srgbClr val="333333"/>
                </a:solidFill>
                <a:latin typeface="Segoe UI"/>
              </a:defRPr>
            </a:pPr>
            <a:r>
              <a:t>• Authenticator registration happens at first sign-in; keep the phone nearby.</a:t>
            </a:r>
          </a:p>
          <a:p>
            <a:pPr algn="l">
              <a:defRPr sz="1500" b="0">
                <a:solidFill>
                  <a:srgbClr val="333333"/>
                </a:solidFill>
                <a:latin typeface="Segoe UI"/>
              </a:defRPr>
            </a:pPr>
            <a:r>
              <a:t>• Use your own workshop account (on your sign-in card) for Foundry portal, Fabric and workshop scripts.</a:t>
            </a:r>
          </a:p>
          <a:p>
            <a:pPr algn="l">
              <a:defRPr sz="1500" b="0">
                <a:solidFill>
                  <a:srgbClr val="333333"/>
                </a:solidFill>
                <a:latin typeface="Segoe UI"/>
              </a:defRPr>
            </a:pPr>
            <a:r>
              <a:t>• Portal-first Navigator rail and Python Builder rail share the same checkpoints.</a:t>
            </a:r>
          </a:p>
          <a:p>
            <a:pPr algn="l">
              <a:defRPr sz="1500" b="0">
                <a:solidFill>
                  <a:srgbClr val="333333"/>
                </a:solidFill>
                <a:latin typeface="Segoe UI"/>
              </a:defRPr>
            </a:pPr>
            <a:r>
              <a:t>• If sign-in stalls, stay with the facilitator; do not switch to personal Microsoft accounts.</a:t>
            </a:r>
          </a:p>
        </p:txBody>
      </p:sp>
      <p:sp>
        <p:nvSpPr>
          <p:cNvPr id="10" name="Rounded Rectangle 9"/>
          <p:cNvSpPr/>
          <p:nvPr/>
        </p:nvSpPr>
        <p:spPr>
          <a:xfrm>
            <a:off x="960120" y="5166360"/>
            <a:ext cx="10241280" cy="73152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800" b="1">
                <a:solidFill>
                  <a:srgbClr val="0B2E59"/>
                </a:solidFill>
                <a:latin typeface="Segoe UI"/>
              </a:defRPr>
            </a:pPr>
            <a:r>
              <a:t>Rule of thumb: one account, one browser profile, one workshop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we left off</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Chevron 6"/>
          <p:cNvSpPr/>
          <p:nvPr/>
        </p:nvSpPr>
        <p:spPr>
          <a:xfrm>
            <a:off x="50292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8" name="TextBox 7"/>
          <p:cNvSpPr txBox="1"/>
          <p:nvPr/>
        </p:nvSpPr>
        <p:spPr>
          <a:xfrm>
            <a:off x="59436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Medallion over app, event, programme and rewards data</a:t>
            </a:r>
          </a:p>
        </p:txBody>
      </p:sp>
      <p:sp>
        <p:nvSpPr>
          <p:cNvPr id="9" name="Chevron 8"/>
          <p:cNvSpPr/>
          <p:nvPr/>
        </p:nvSpPr>
        <p:spPr>
          <a:xfrm>
            <a:off x="274320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0" name="TextBox 9"/>
          <p:cNvSpPr txBox="1"/>
          <p:nvPr/>
        </p:nvSpPr>
        <p:spPr>
          <a:xfrm>
            <a:off x="283464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Semantic model and ontology</a:t>
            </a:r>
          </a:p>
        </p:txBody>
      </p:sp>
      <p:sp>
        <p:nvSpPr>
          <p:cNvPr id="11" name="Chevron 10"/>
          <p:cNvSpPr/>
          <p:nvPr/>
        </p:nvSpPr>
        <p:spPr>
          <a:xfrm>
            <a:off x="498348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2" name="TextBox 11"/>
          <p:cNvSpPr txBox="1"/>
          <p:nvPr/>
        </p:nvSpPr>
        <p:spPr>
          <a:xfrm>
            <a:off x="507492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Disengagement score and resident context</a:t>
            </a:r>
          </a:p>
        </p:txBody>
      </p:sp>
      <p:sp>
        <p:nvSpPr>
          <p:cNvPr id="13" name="Chevron 12"/>
          <p:cNvSpPr/>
          <p:nvPr/>
        </p:nvSpPr>
        <p:spPr>
          <a:xfrm>
            <a:off x="722376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4" name="TextBox 13"/>
          <p:cNvSpPr txBox="1"/>
          <p:nvPr/>
        </p:nvSpPr>
        <p:spPr>
          <a:xfrm>
            <a:off x="731520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Fabric data agents over governed data</a:t>
            </a:r>
          </a:p>
        </p:txBody>
      </p:sp>
      <p:sp>
        <p:nvSpPr>
          <p:cNvPr id="15" name="Chevron 14"/>
          <p:cNvSpPr/>
          <p:nvPr/>
        </p:nvSpPr>
        <p:spPr>
          <a:xfrm>
            <a:off x="9464040" y="1691640"/>
            <a:ext cx="2057400" cy="7772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9555480" y="2606040"/>
            <a:ext cx="1874519" cy="1005840"/>
          </a:xfrm>
          <a:prstGeom prst="rect">
            <a:avLst/>
          </a:prstGeom>
          <a:noFill/>
        </p:spPr>
        <p:txBody>
          <a:bodyPr wrap="square" lIns="73152" rIns="73152" bIns="36576" anchor="t">
            <a:spAutoFit/>
          </a:bodyPr>
          <a:lstStyle/>
          <a:p>
            <a:pPr algn="ctr">
              <a:defRPr sz="1250" b="1">
                <a:solidFill>
                  <a:srgbClr val="0F7C8C"/>
                </a:solidFill>
                <a:latin typeface="Segoe UI"/>
              </a:defRPr>
            </a:pPr>
            <a:r>
              <a:t>Foundry agent talks to Rahim and takes approved action</a:t>
            </a:r>
          </a:p>
        </p:txBody>
      </p:sp>
      <p:sp>
        <p:nvSpPr>
          <p:cNvPr id="17" name="TextBox 16"/>
          <p:cNvSpPr txBox="1"/>
          <p:nvPr/>
        </p:nvSpPr>
        <p:spPr>
          <a:xfrm>
            <a:off x="713232" y="1078992"/>
            <a:ext cx="5577840" cy="320040"/>
          </a:xfrm>
          <a:prstGeom prst="rect">
            <a:avLst/>
          </a:prstGeom>
          <a:noFill/>
        </p:spPr>
        <p:txBody>
          <a:bodyPr wrap="square" lIns="73152" rIns="73152" bIns="36576" anchor="t">
            <a:spAutoFit/>
          </a:bodyPr>
          <a:lstStyle/>
          <a:p>
            <a:pPr algn="l">
              <a:defRPr sz="1600" b="1">
                <a:solidFill>
                  <a:srgbClr val="333333"/>
                </a:solidFill>
                <a:latin typeface="Segoe UI"/>
              </a:defRPr>
            </a:pPr>
            <a:r>
              <a:t>Fabric workshop: Resident 360 sees Rahim</a:t>
            </a:r>
          </a:p>
        </p:txBody>
      </p:sp>
      <p:sp>
        <p:nvSpPr>
          <p:cNvPr id="18" name="TextBox 17"/>
          <p:cNvSpPr txBox="1"/>
          <p:nvPr/>
        </p:nvSpPr>
        <p:spPr>
          <a:xfrm>
            <a:off x="7315200" y="1078992"/>
            <a:ext cx="4114800" cy="320040"/>
          </a:xfrm>
          <a:prstGeom prst="rect">
            <a:avLst/>
          </a:prstGeom>
          <a:noFill/>
        </p:spPr>
        <p:txBody>
          <a:bodyPr wrap="square" lIns="73152" rIns="73152" bIns="36576" anchor="t">
            <a:spAutoFit/>
          </a:bodyPr>
          <a:lstStyle/>
          <a:p>
            <a:pPr algn="l">
              <a:defRPr sz="1600" b="1">
                <a:solidFill>
                  <a:srgbClr val="0F7C8C"/>
                </a:solidFill>
                <a:latin typeface="Segoe UI"/>
              </a:defRPr>
            </a:pPr>
            <a:r>
              <a:t>Today: Foundry coaches and acts</a:t>
            </a:r>
          </a:p>
        </p:txBody>
      </p:sp>
      <p:sp>
        <p:nvSpPr>
          <p:cNvPr id="19" name="Rounded Rectangle 18"/>
          <p:cNvSpPr/>
          <p:nvPr/>
        </p:nvSpPr>
        <p:spPr>
          <a:xfrm>
            <a:off x="1097280" y="4251960"/>
            <a:ext cx="996696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700" b="1">
                <a:solidFill>
                  <a:srgbClr val="0B2E59"/>
                </a:solidFill>
                <a:latin typeface="Segoe UI"/>
              </a:defRPr>
            </a:pPr>
            <a:r>
              <a:t>Foundry IQ grounds the coach in documents; Fabric IQ grounds programme questions in governed business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human thread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Rounded Rectangle 6"/>
          <p:cNvSpPr/>
          <p:nvPr/>
        </p:nvSpPr>
        <p:spPr>
          <a:xfrm>
            <a:off x="594360" y="960120"/>
            <a:ext cx="5303520" cy="804672"/>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Rahim, citizen seat</a:t>
            </a:r>
          </a:p>
          <a:p>
            <a:pPr algn="ctr">
              <a:defRPr sz="1400" b="1">
                <a:solidFill>
                  <a:srgbClr val="0B2E59"/>
                </a:solidFill>
                <a:latin typeface="Segoe UI"/>
              </a:defRPr>
            </a:pPr>
            <a:r>
              <a:t>Foundry IQ + profile + memory; Fabric once, age band only</a:t>
            </a:r>
          </a:p>
        </p:txBody>
      </p:sp>
      <p:sp>
        <p:nvSpPr>
          <p:cNvPr id="8" name="Rounded Rectangle 7"/>
          <p:cNvSpPr/>
          <p:nvPr/>
        </p:nvSpPr>
        <p:spPr>
          <a:xfrm>
            <a:off x="6309360" y="960120"/>
            <a:ext cx="5303520" cy="804672"/>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Mei Lin, officer seat</a:t>
            </a:r>
          </a:p>
          <a:p>
            <a:pPr algn="ctr">
              <a:defRPr sz="1400" b="1">
                <a:solidFill>
                  <a:srgbClr val="0B2E59"/>
                </a:solidFill>
                <a:latin typeface="Segoe UI"/>
              </a:defRPr>
            </a:pPr>
            <a:r>
              <a:t>Programme-level questions; Fabric IQ only for aggregate data</a:t>
            </a:r>
          </a:p>
        </p:txBody>
      </p:sp>
      <p:graphicFrame>
        <p:nvGraphicFramePr>
          <p:cNvPr id="9" name="Table 8"/>
          <p:cNvGraphicFramePr>
            <a:graphicFrameLocks noGrp="1"/>
          </p:cNvGraphicFramePr>
          <p:nvPr/>
        </p:nvGraphicFramePr>
        <p:xfrm>
          <a:off x="594360" y="2057400"/>
          <a:ext cx="11018520" cy="3154680"/>
        </p:xfrm>
        <a:graphic>
          <a:graphicData uri="http://schemas.openxmlformats.org/drawingml/2006/table">
            <a:tbl>
              <a:tblPr firstRow="1" bandRow="1">
                <a:tableStyleId>{5C22544A-7EE6-4342-B048-85BDC9FD1C3A}</a:tableStyleId>
              </a:tblPr>
              <a:tblGrid>
                <a:gridCol w="826389"/>
                <a:gridCol w="1836420"/>
                <a:gridCol w="8355711"/>
              </a:tblGrid>
              <a:tr h="450668">
                <a:tc>
                  <a:txBody>
                    <a:bodyPr wrap="square"/>
                    <a:lstStyle/>
                    <a:p>
                      <a:pPr algn="ctr">
                        <a:defRPr sz="1150" b="1">
                          <a:solidFill>
                            <a:srgbClr val="FFFFFF"/>
                          </a:solidFill>
                          <a:latin typeface="Segoe UI"/>
                        </a:defRPr>
                      </a:pPr>
                      <a:r>
                        <a:rPr sz="1150" b="1">
                          <a:solidFill>
                            <a:srgbClr val="FFFFFF"/>
                          </a:solidFill>
                          <a:latin typeface="Segoe UI"/>
                        </a:rPr>
                        <a:t>Chapter</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Seat</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One-line beat</a:t>
                      </a:r>
                    </a:p>
                  </a:txBody>
                  <a:tcPr marL="36576" marR="36576" marT="18288" marB="18288" anchor="ctr">
                    <a:solidFill>
                      <a:srgbClr val="0B2E59"/>
                    </a:solidFill>
                  </a:tcPr>
                </a:tc>
              </a:tr>
              <a:tr h="450668">
                <a:tc>
                  <a:txBody>
                    <a:bodyPr wrap="square"/>
                    <a:lstStyle/>
                    <a:p>
                      <a:pPr algn="l">
                        <a:defRPr sz="1120" b="0">
                          <a:solidFill>
                            <a:srgbClr val="333333"/>
                          </a:solidFill>
                          <a:latin typeface="Segoe UI"/>
                        </a:defRPr>
                      </a:pPr>
                      <a:r>
                        <a:rPr sz="1120" b="0">
                          <a:solidFill>
                            <a:srgbClr val="333333"/>
                          </a:solidFill>
                          <a:latin typeface="Segoe UI"/>
                        </a:rPr>
                        <a:t>0</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He opens the coach, gets a safe introduction and learns it will not diagnose.</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1</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He asks what to eat for high glucose; the coach cites guides and refuses unsupported supplement advice.</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2</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A hidden flyer and medication question test Prompt Shields, blocklists, traces and evaluators.</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3</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gets hazy-day activities with approval, then asks which programme people his age stick with (one age-band Fabric question); Mei asks the region question.</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4</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The hosted agent handles Rahim's week plan and Mei's programme-insights question through the right route.</a:t>
                      </a:r>
                    </a:p>
                  </a:txBody>
                  <a:tcPr marL="36576" marR="36576" marT="18288" marB="18288" anchor="ctr">
                    <a:solidFill>
                      <a:srgbClr val="FFFFFF"/>
                    </a:solidFill>
                  </a:tcPr>
                </a:tc>
              </a:tr>
              <a:tr h="450672">
                <a:tc>
                  <a:txBody>
                    <a:bodyPr wrap="square"/>
                    <a:lstStyle/>
                    <a:p>
                      <a:pPr algn="l">
                        <a:defRPr sz="1120" b="0">
                          <a:solidFill>
                            <a:srgbClr val="333333"/>
                          </a:solidFill>
                          <a:latin typeface="Segoe UI"/>
                        </a:defRPr>
                      </a:pPr>
                      <a:r>
                        <a:rPr sz="1120" b="0">
                          <a:solidFill>
                            <a:srgbClr val="333333"/>
                          </a:solidFill>
                          <a:latin typeface="Segoe UI"/>
                        </a:rPr>
                        <a:t>5</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The bridge closes on multi-hop aggregate reasoning and why Fabric IQ only ever receives aggregate questions.</a:t>
                      </a:r>
                    </a:p>
                  </a:txBody>
                  <a:tcPr marL="36576" marR="36576" marT="18288" marB="18288" anchor="ctr">
                    <a:solidFill>
                      <a:srgbClr val="F7FAFC"/>
                    </a:solidFill>
                  </a:tcPr>
                </a:tc>
              </a:tr>
            </a:tbl>
          </a:graphicData>
        </a:graphic>
      </p:graphicFrame>
      <p:sp>
        <p:nvSpPr>
          <p:cNvPr id="10" name="Rounded Rectangle 9"/>
          <p:cNvSpPr/>
          <p:nvPr/>
        </p:nvSpPr>
        <p:spPr>
          <a:xfrm>
            <a:off x="822960" y="5532120"/>
            <a:ext cx="10515600" cy="5029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Routing rule: guidance stays with Foundry IQ, profile and memory; only aggregate questions (cohort, region, programme) go to Fabric.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we build today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11480" y="1417320"/>
            <a:ext cx="150876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Rahim</a:t>
            </a:r>
          </a:p>
          <a:p>
            <a:pPr algn="ctr">
              <a:defRPr sz="1300" b="1">
                <a:solidFill>
                  <a:srgbClr val="0B2E59"/>
                </a:solidFill>
                <a:latin typeface="Segoe UI"/>
              </a:defRPr>
            </a:pPr>
            <a:r>
              <a:t>citizen</a:t>
            </a:r>
          </a:p>
        </p:txBody>
      </p:sp>
      <p:sp>
        <p:nvSpPr>
          <p:cNvPr id="8" name="Rounded Rectangle 7"/>
          <p:cNvSpPr/>
          <p:nvPr/>
        </p:nvSpPr>
        <p:spPr>
          <a:xfrm>
            <a:off x="411480" y="2788920"/>
            <a:ext cx="150876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Mei Lin</a:t>
            </a:r>
          </a:p>
          <a:p>
            <a:pPr algn="ctr">
              <a:defRPr sz="1300" b="1">
                <a:solidFill>
                  <a:srgbClr val="0B2E59"/>
                </a:solidFill>
                <a:latin typeface="Segoe UI"/>
              </a:defRPr>
            </a:pPr>
            <a:r>
              <a:t>officer</a:t>
            </a:r>
          </a:p>
        </p:txBody>
      </p:sp>
      <p:sp>
        <p:nvSpPr>
          <p:cNvPr id="9" name="Rounded Rectangle 8"/>
          <p:cNvSpPr/>
          <p:nvPr/>
        </p:nvSpPr>
        <p:spPr>
          <a:xfrm>
            <a:off x="2743200" y="1572768"/>
            <a:ext cx="2743200" cy="171907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20" b="1">
                <a:solidFill>
                  <a:srgbClr val="0B2E59"/>
                </a:solidFill>
                <a:latin typeface="Segoe UI"/>
              </a:defRPr>
            </a:pPr>
            <a:r>
              <a:t>LiveWell Coach</a:t>
            </a:r>
          </a:p>
          <a:p>
            <a:pPr algn="ctr">
              <a:defRPr sz="1220" b="1">
                <a:solidFill>
                  <a:srgbClr val="0B2E59"/>
                </a:solidFill>
                <a:latin typeface="Segoe UI"/>
              </a:defRPr>
            </a:pPr>
            <a:r>
              <a:t>Foundry Agent Service</a:t>
            </a:r>
          </a:p>
          <a:p>
            <a:pPr algn="ctr">
              <a:defRPr sz="1220" b="1">
                <a:solidFill>
                  <a:srgbClr val="0B2E59"/>
                </a:solidFill>
                <a:latin typeface="Segoe UI"/>
              </a:defRPr>
            </a:pPr>
            <a:r>
              <a:t>gpt-5-mini + instructions</a:t>
            </a:r>
          </a:p>
          <a:p>
            <a:pPr algn="ctr">
              <a:defRPr sz="1220" b="1">
                <a:solidFill>
                  <a:srgbClr val="0B2E59"/>
                </a:solidFill>
                <a:latin typeface="Segoe UI"/>
              </a:defRPr>
            </a:pPr>
            <a:r>
              <a:t>memory · guardrails · tracing</a:t>
            </a:r>
          </a:p>
        </p:txBody>
      </p:sp>
      <p:sp>
        <p:nvSpPr>
          <p:cNvPr id="10" name="Rounded Rectangle 9"/>
          <p:cNvSpPr/>
          <p:nvPr/>
        </p:nvSpPr>
        <p:spPr>
          <a:xfrm>
            <a:off x="6400800" y="914400"/>
            <a:ext cx="2057400" cy="6400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Foundry IQ KB</a:t>
            </a:r>
          </a:p>
          <a:p>
            <a:pPr algn="ctr">
              <a:defRPr sz="1070" b="1">
                <a:solidFill>
                  <a:srgbClr val="0B2E59"/>
                </a:solidFill>
                <a:latin typeface="Segoe UI"/>
              </a:defRPr>
            </a:pPr>
            <a:r>
              <a:t>livewell-guides-kb</a:t>
            </a:r>
          </a:p>
        </p:txBody>
      </p:sp>
      <p:cxnSp>
        <p:nvCxnSpPr>
          <p:cNvPr id="11" name="Connector 10"/>
          <p:cNvCxnSpPr/>
          <p:nvPr/>
        </p:nvCxnSpPr>
        <p:spPr>
          <a:xfrm flipV="1">
            <a:off x="5486400" y="1234440"/>
            <a:ext cx="914400" cy="118872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0" y="1783080"/>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livewell_profile</a:t>
            </a:r>
          </a:p>
          <a:p>
            <a:pPr algn="ctr">
              <a:defRPr sz="1070" b="1">
                <a:solidFill>
                  <a:srgbClr val="0B2E59"/>
                </a:solidFill>
                <a:latin typeface="Segoe UI"/>
              </a:defRPr>
            </a:pPr>
            <a:r>
              <a:t>resident profile extract</a:t>
            </a:r>
          </a:p>
        </p:txBody>
      </p:sp>
      <p:cxnSp>
        <p:nvCxnSpPr>
          <p:cNvPr id="13" name="Connector 12"/>
          <p:cNvCxnSpPr/>
          <p:nvPr/>
        </p:nvCxnSpPr>
        <p:spPr>
          <a:xfrm flipV="1">
            <a:off x="5486400" y="2112264"/>
            <a:ext cx="914400" cy="310896"/>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00800" y="2670048"/>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activities MCP</a:t>
            </a:r>
          </a:p>
          <a:p>
            <a:pPr algn="ctr">
              <a:defRPr sz="1070" b="1">
                <a:solidFill>
                  <a:srgbClr val="0B2E59"/>
                </a:solidFill>
                <a:latin typeface="Segoe UI"/>
              </a:defRPr>
            </a:pPr>
            <a:r>
              <a:t>approval before write</a:t>
            </a:r>
          </a:p>
        </p:txBody>
      </p:sp>
      <p:cxnSp>
        <p:nvCxnSpPr>
          <p:cNvPr id="15" name="Connector 14"/>
          <p:cNvCxnSpPr/>
          <p:nvPr/>
        </p:nvCxnSpPr>
        <p:spPr>
          <a:xfrm>
            <a:off x="5486400" y="2423160"/>
            <a:ext cx="914400" cy="576072"/>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00800" y="3566160"/>
            <a:ext cx="205740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Fabric IQ tool</a:t>
            </a:r>
          </a:p>
          <a:p>
            <a:pPr algn="ctr">
              <a:defRPr sz="1070" b="1">
                <a:solidFill>
                  <a:srgbClr val="0B2E59"/>
                </a:solidFill>
                <a:latin typeface="Segoe UI"/>
              </a:defRPr>
            </a:pPr>
            <a:r>
              <a:t>livewell-fabric-resident360</a:t>
            </a:r>
          </a:p>
        </p:txBody>
      </p:sp>
      <p:cxnSp>
        <p:nvCxnSpPr>
          <p:cNvPr id="17" name="Connector 16"/>
          <p:cNvCxnSpPr/>
          <p:nvPr/>
        </p:nvCxnSpPr>
        <p:spPr>
          <a:xfrm>
            <a:off x="5486400" y="2423160"/>
            <a:ext cx="914400" cy="1472184"/>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920240" y="173736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920240" y="269748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235440" y="3310128"/>
            <a:ext cx="2423160" cy="107899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919" b="1">
                <a:solidFill>
                  <a:srgbClr val="0B2E59"/>
                </a:solidFill>
                <a:latin typeface="Segoe UI"/>
              </a:defRPr>
            </a:pPr>
            <a:r>
              <a:t>Fabric F2 / F4</a:t>
            </a:r>
          </a:p>
          <a:p>
            <a:pPr algn="ctr">
              <a:defRPr sz="919" b="1">
                <a:solidFill>
                  <a:srgbClr val="0B2E59"/>
                </a:solidFill>
                <a:latin typeface="Segoe UI"/>
              </a:defRPr>
            </a:pPr>
            <a:r>
              <a:t>HPB Resident 360 → lh_resident360</a:t>
            </a:r>
          </a:p>
          <a:p>
            <a:pPr algn="ctr">
              <a:defRPr sz="919" b="1">
                <a:solidFill>
                  <a:srgbClr val="0B2E59"/>
                </a:solidFill>
                <a:latin typeface="Segoe UI"/>
              </a:defRPr>
            </a:pPr>
            <a:r>
              <a:t>→ resident_ontology</a:t>
            </a:r>
          </a:p>
          <a:p>
            <a:pPr algn="ctr">
              <a:defRPr sz="919" b="1">
                <a:solidFill>
                  <a:srgbClr val="0B2E59"/>
                </a:solidFill>
                <a:latin typeface="Segoe UI"/>
              </a:defRPr>
            </a:pPr>
            <a:r>
              <a:t>→ Resident360 Ontology Agent</a:t>
            </a:r>
          </a:p>
        </p:txBody>
      </p:sp>
      <p:cxnSp>
        <p:nvCxnSpPr>
          <p:cNvPr id="21" name="Connector 20"/>
          <p:cNvCxnSpPr/>
          <p:nvPr/>
        </p:nvCxnSpPr>
        <p:spPr>
          <a:xfrm>
            <a:off x="8458200" y="3895344"/>
            <a:ext cx="777240" cy="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743200" y="4645152"/>
            <a:ext cx="5715000" cy="73152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Specialists: Nutrition · Activity · Programme-Insights</a:t>
            </a:r>
          </a:p>
        </p:txBody>
      </p:sp>
      <p:cxnSp>
        <p:nvCxnSpPr>
          <p:cNvPr id="23" name="Connector 22"/>
          <p:cNvCxnSpPr/>
          <p:nvPr/>
        </p:nvCxnSpPr>
        <p:spPr>
          <a:xfrm>
            <a:off x="4114800" y="3291840"/>
            <a:ext cx="0" cy="1353312"/>
          </a:xfrm>
          <a:prstGeom prst="line">
            <a:avLst/>
          </a:prstGeom>
          <a:ln w="1778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52560" y="914400"/>
            <a:ext cx="2606040" cy="10515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10" b="1">
                <a:solidFill>
                  <a:srgbClr val="333333"/>
                </a:solidFill>
                <a:latin typeface="Segoe UI"/>
              </a:defRPr>
            </a:pPr>
            <a:r>
              <a:t>Governance spine</a:t>
            </a:r>
          </a:p>
          <a:p>
            <a:pPr algn="ctr">
              <a:defRPr sz="1110" b="1">
                <a:solidFill>
                  <a:srgbClr val="333333"/>
                </a:solidFill>
                <a:latin typeface="Segoe UI"/>
              </a:defRPr>
            </a:pPr>
            <a:r>
              <a:t>RAI policy · evaluations · red team · Control Plane · Entra Agent 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features you will touch</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50292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Build</a:t>
            </a:r>
          </a:p>
        </p:txBody>
      </p:sp>
      <p:sp>
        <p:nvSpPr>
          <p:cNvPr id="8" name="TextBox 7"/>
          <p:cNvSpPr txBox="1"/>
          <p:nvPr/>
        </p:nvSpPr>
        <p:spPr>
          <a:xfrm>
            <a:off x="59436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Portal, resource + project, RBAC</a:t>
            </a:r>
          </a:p>
          <a:p>
            <a:pPr algn="l">
              <a:defRPr sz="1130" b="0">
                <a:solidFill>
                  <a:srgbClr val="333333"/>
                </a:solidFill>
                <a:latin typeface="Segoe UI"/>
              </a:defRPr>
            </a:pPr>
            <a:r>
              <a:t>• Models: catalogue, quota, gpt-5-mini, gpt-4.1-mini, embeddings</a:t>
            </a:r>
          </a:p>
          <a:p>
            <a:pPr algn="l">
              <a:defRPr sz="1130" b="0">
                <a:solidFill>
                  <a:srgbClr val="333333"/>
                </a:solidFill>
                <a:latin typeface="Segoe UI"/>
              </a:defRPr>
            </a:pPr>
            <a:r>
              <a:t>• Prompt agents, playground, structured outputs, versions</a:t>
            </a:r>
          </a:p>
          <a:p>
            <a:pPr algn="l">
              <a:defRPr sz="1130" b="0">
                <a:solidFill>
                  <a:srgbClr val="333333"/>
                </a:solidFill>
                <a:latin typeface="Segoe UI"/>
              </a:defRPr>
            </a:pPr>
            <a:r>
              <a:t>• Foundry IQ KB on Azure AI Search; agentic retrieval; citations (portal preview)</a:t>
            </a:r>
          </a:p>
          <a:p>
            <a:pPr algn="l">
              <a:defRPr sz="1130" b="0">
                <a:solidFill>
                  <a:srgbClr val="333333"/>
                </a:solidFill>
                <a:latin typeface="Segoe UI"/>
              </a:defRPr>
            </a:pPr>
            <a:r>
              <a:t>• Developer loop: Toolkit for VS Code, Foundry Skill, Codespaces</a:t>
            </a:r>
          </a:p>
        </p:txBody>
      </p:sp>
      <p:sp>
        <p:nvSpPr>
          <p:cNvPr id="9" name="Rounded Rectangle 8"/>
          <p:cNvSpPr/>
          <p:nvPr/>
        </p:nvSpPr>
        <p:spPr>
          <a:xfrm>
            <a:off x="429768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Govern</a:t>
            </a:r>
          </a:p>
        </p:txBody>
      </p:sp>
      <p:sp>
        <p:nvSpPr>
          <p:cNvPr id="10" name="TextBox 9"/>
          <p:cNvSpPr txBox="1"/>
          <p:nvPr/>
        </p:nvSpPr>
        <p:spPr>
          <a:xfrm>
            <a:off x="438912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Foundry User / Project Manager roles and agent identity</a:t>
            </a:r>
          </a:p>
          <a:p>
            <a:pPr algn="l">
              <a:defRPr sz="1130" b="0">
                <a:solidFill>
                  <a:srgbClr val="333333"/>
                </a:solidFill>
                <a:latin typeface="Segoe UI"/>
              </a:defRPr>
            </a:pPr>
            <a:r>
              <a:t>• Guardrails: content-safety, Prompt Shields, groundedness, blocklist, RAI policy</a:t>
            </a:r>
          </a:p>
          <a:p>
            <a:pPr algn="l">
              <a:defRPr sz="1130" b="0">
                <a:solidFill>
                  <a:srgbClr val="333333"/>
                </a:solidFill>
                <a:latin typeface="Segoe UI"/>
              </a:defRPr>
            </a:pPr>
            <a:r>
              <a:t>• Tracing in App Insights; tool-call, token and cost per run</a:t>
            </a:r>
          </a:p>
          <a:p>
            <a:pPr algn="l">
              <a:defRPr sz="1130" b="0">
                <a:solidFill>
                  <a:srgbClr val="333333"/>
                </a:solidFill>
                <a:latin typeface="Segoe UI"/>
              </a:defRPr>
            </a:pPr>
            <a:r>
              <a:t>• Evaluations: built-in + custom, batch, version compare, continuous eval (preview)</a:t>
            </a:r>
          </a:p>
          <a:p>
            <a:pPr algn="l">
              <a:defRPr sz="1130" b="0">
                <a:solidFill>
                  <a:srgbClr val="333333"/>
                </a:solidFill>
                <a:latin typeface="Segoe UI"/>
              </a:defRPr>
            </a:pPr>
            <a:r>
              <a:t>• Control Plane: fleet, policies, quota, cost, Entra Agent ID, publish RBAC (preview)</a:t>
            </a:r>
          </a:p>
        </p:txBody>
      </p:sp>
      <p:sp>
        <p:nvSpPr>
          <p:cNvPr id="11" name="Rounded Rectangle 10"/>
          <p:cNvSpPr/>
          <p:nvPr/>
        </p:nvSpPr>
        <p:spPr>
          <a:xfrm>
            <a:off x="809244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Extend</a:t>
            </a:r>
          </a:p>
        </p:txBody>
      </p:sp>
      <p:sp>
        <p:nvSpPr>
          <p:cNvPr id="12" name="TextBox 11"/>
          <p:cNvSpPr txBox="1"/>
          <p:nvPr/>
        </p:nvSpPr>
        <p:spPr>
          <a:xfrm>
            <a:off x="818388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Function tool and OpenAPI tool</a:t>
            </a:r>
          </a:p>
          <a:p>
            <a:pPr algn="l">
              <a:defRPr sz="1130" b="0">
                <a:solidFill>
                  <a:srgbClr val="333333"/>
                </a:solidFill>
                <a:latin typeface="Segoe UI"/>
              </a:defRPr>
            </a:pPr>
            <a:r>
              <a:t>• MCP tool with approval-before-write</a:t>
            </a:r>
          </a:p>
          <a:p>
            <a:pPr algn="l">
              <a:defRPr sz="1130" b="0">
                <a:solidFill>
                  <a:srgbClr val="333333"/>
                </a:solidFill>
                <a:latin typeface="Segoe UI"/>
              </a:defRPr>
            </a:pPr>
            <a:r>
              <a:t>• Fabric IQ tool (preview)</a:t>
            </a:r>
          </a:p>
          <a:p>
            <a:pPr algn="l">
              <a:defRPr sz="1130" b="0">
                <a:solidFill>
                  <a:srgbClr val="333333"/>
                </a:solidFill>
                <a:latin typeface="Segoe UI"/>
              </a:defRPr>
            </a:pPr>
            <a:r>
              <a:t>• Memory (preview); A2A specialists / Agent Framework</a:t>
            </a:r>
          </a:p>
          <a:p>
            <a:pPr algn="l">
              <a:defRPr sz="1130" b="0">
                <a:solidFill>
                  <a:srgbClr val="333333"/>
                </a:solidFill>
                <a:latin typeface="Segoe UI"/>
              </a:defRPr>
            </a:pPr>
            <a:r>
              <a:t>• Hosted agents: azd ai agent, Foundry Toolkit, rai_config</a:t>
            </a:r>
          </a:p>
          <a:p>
            <a:pPr algn="l">
              <a:defRPr sz="1130" b="0">
                <a:solidFill>
                  <a:srgbClr val="333333"/>
                </a:solidFill>
                <a:latin typeface="Segoe UI"/>
              </a:defRPr>
            </a:pPr>
            <a:r>
              <a:t>• Optional Bing grounding / Code Interpreter; Toolbox + Skills mentioned (preview)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Setup &amp; first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Intro · portal · all rails</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opens the coach for the first time.</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 Foundry agent is a model plus instructions, and instructions alone can make it safe; every answer leaves a trace you can inspect</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portal; resource/project; RBAC; model deployments; reasoning effort; prompt agent; playground; versions; traces.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Agent introduces itself, says it is not a doctor and refuses to diagnose; the trace shows one gpt-5-mini call and its tokens.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Agents &amp; Knowledge — Foundry IQ</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 #4</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Core build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what to eat after a high-glucose screening result.</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Ground every answer in curated knowledge with verifiable citations, never invent a source, and return machine-routable JSON</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IQ KB; Azure AI Search; agentic retrieval; citations; MCP connection; structured JSON output.</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Pre-diabetes food question cites at least one KB document; the supplement question routes to a clinician with no invented source.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Guardrails, Evaluations &amp; Tracing</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#5, #7,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Govern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A flyer hides an injection; Rahim asks about doubling medication and skipping meals.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Safety is measured, not assumed: apply guardrails, prove behaviour with evaluators, and make every decision auditable in a trace</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Guardrail ladder; block vs annotate; Prompt Shields; thresholds; blocklist; traces; evaluation code walkthrough and shared version comparison; red team.</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Inspect blocked/allowed traces and explain a trade-off in the facilitator's completed evaluation. Read the evaluation code; do not run a batch during the lab.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Tools, MCP &amp; Memory — hyper-personalisation</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Extend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for indoor hazy-day activities near Woodlands, approves the sign-up, and expects the coach to remember his preferences.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An agent that acts: personalise on governed data, take real actions with a human in the loop, delegate to specialists, and route each kind of question to the right tool</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livewell_profile OpenAPI tool (get_citizen_profile function in Builder); activities MCP; approval-before-write; memory; optional A2A specialists.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 compound question calls the profile tool and activities MCP, tailors to Rahim, and waits for approval before register_interest.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Fabric IQ tool — Resident360 Ontology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Fabric IQ tool — Resident360 Ontology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Optional · gated on FABRIC_BRIDGE=true</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which programme people his age stick with; Mei Lin asks which regions have the highest share of disengaged residents.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Continues Lab 3: add governed population evidence to a personal answer, without sending personal data</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Fabric IQ tool; OneLake Catalog; published Fabric data agent; identity passthrough; profile → Fabric IQ → activities chaining; aggregate-only routing.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Programme fit chains profile → Fabric IQ (age band only) → activities with approval; Mei's trace shows Fabric IQ; Rahim's food question makes no Fabric call.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Multi-agent &amp; Hosted deploy</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#3, #9,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Browser hands-on · facilitator deploy</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LiveWell Coach goes live behind the simulated Healthy 365 channel.</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From playground to production: the same agent behind two doors (portal for people, endpoint for systems), governed by the same policy</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Agent Framework sequential and hand-off orchestration in DevUI; Programme-Insights specialist; azd deploy (code deploy); rai_config; hosted tracing.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Sequential and hand-off runs are visible in DevUI; the hosted endpoint returns JSON and blocks a blocklisted prompt; hosted and playground traces compared.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IQs, one agent — their estate → Foundry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685800" y="1051560"/>
            <a:ext cx="3886200" cy="54864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Their Fabric estate</a:t>
            </a:r>
          </a:p>
        </p:txBody>
      </p:sp>
      <p:sp>
        <p:nvSpPr>
          <p:cNvPr id="8" name="TextBox 7"/>
          <p:cNvSpPr txBox="1"/>
          <p:nvPr/>
        </p:nvSpPr>
        <p:spPr>
          <a:xfrm>
            <a:off x="91440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resident_360</a:t>
            </a:r>
          </a:p>
          <a:p>
            <a:pPr algn="l">
              <a:defRPr sz="1500" b="0">
                <a:solidFill>
                  <a:srgbClr val="333333"/>
                </a:solidFill>
                <a:latin typeface="Segoe UI"/>
              </a:defRPr>
            </a:pPr>
            <a:r>
              <a:t>✓ semantic model</a:t>
            </a:r>
          </a:p>
          <a:p>
            <a:pPr algn="l">
              <a:defRPr sz="1500" b="0">
                <a:solidFill>
                  <a:srgbClr val="333333"/>
                </a:solidFill>
                <a:latin typeface="Segoe UI"/>
              </a:defRPr>
            </a:pPr>
            <a:r>
              <a:t>✓ ontology</a:t>
            </a:r>
          </a:p>
          <a:p>
            <a:pPr algn="l">
              <a:defRPr sz="1500" b="0">
                <a:solidFill>
                  <a:srgbClr val="333333"/>
                </a:solidFill>
                <a:latin typeface="Segoe UI"/>
              </a:defRPr>
            </a:pPr>
            <a:r>
              <a:t>✓ data agents</a:t>
            </a:r>
          </a:p>
          <a:p>
            <a:pPr algn="l">
              <a:defRPr sz="1500" b="0">
                <a:solidFill>
                  <a:srgbClr val="333333"/>
                </a:solidFill>
                <a:latin typeface="Segoe UI"/>
              </a:defRPr>
            </a:pPr>
            <a:r>
              <a:t>✓ ML endpoint</a:t>
            </a:r>
          </a:p>
        </p:txBody>
      </p:sp>
      <p:sp>
        <p:nvSpPr>
          <p:cNvPr id="9" name="Rounded Rectangle 8"/>
          <p:cNvSpPr/>
          <p:nvPr/>
        </p:nvSpPr>
        <p:spPr>
          <a:xfrm>
            <a:off x="7635240" y="1051560"/>
            <a:ext cx="3886200" cy="54864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Foundry agent estate</a:t>
            </a:r>
          </a:p>
        </p:txBody>
      </p:sp>
      <p:sp>
        <p:nvSpPr>
          <p:cNvPr id="10" name="TextBox 9"/>
          <p:cNvSpPr txBox="1"/>
          <p:nvPr/>
        </p:nvSpPr>
        <p:spPr>
          <a:xfrm>
            <a:off x="786384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Foundry IQ</a:t>
            </a:r>
          </a:p>
          <a:p>
            <a:pPr algn="l">
              <a:defRPr sz="1500" b="0">
                <a:solidFill>
                  <a:srgbClr val="333333"/>
                </a:solidFill>
                <a:latin typeface="Segoe UI"/>
              </a:defRPr>
            </a:pPr>
            <a:r>
              <a:t>✓ Fabric IQ tool</a:t>
            </a:r>
          </a:p>
          <a:p>
            <a:pPr algn="l">
              <a:defRPr sz="1500" b="0">
                <a:solidFill>
                  <a:srgbClr val="333333"/>
                </a:solidFill>
                <a:latin typeface="Segoe UI"/>
              </a:defRPr>
            </a:pPr>
            <a:r>
              <a:t>✓ profile + activities tools</a:t>
            </a:r>
          </a:p>
          <a:p>
            <a:pPr algn="l">
              <a:defRPr sz="1500" b="0">
                <a:solidFill>
                  <a:srgbClr val="333333"/>
                </a:solidFill>
                <a:latin typeface="Segoe UI"/>
              </a:defRPr>
            </a:pPr>
            <a:r>
              <a:t>✓ memory</a:t>
            </a:r>
          </a:p>
          <a:p>
            <a:pPr algn="l">
              <a:defRPr sz="1500" b="0">
                <a:solidFill>
                  <a:srgbClr val="333333"/>
                </a:solidFill>
                <a:latin typeface="Segoe UI"/>
              </a:defRPr>
            </a:pPr>
            <a:r>
              <a:t>✓ guardrails</a:t>
            </a:r>
          </a:p>
          <a:p>
            <a:pPr algn="l">
              <a:defRPr sz="1500" b="0">
                <a:solidFill>
                  <a:srgbClr val="333333"/>
                </a:solidFill>
                <a:latin typeface="Segoe UI"/>
              </a:defRPr>
            </a:pPr>
            <a:r>
              <a:t>✓ evaluations</a:t>
            </a:r>
          </a:p>
          <a:p>
            <a:pPr algn="l">
              <a:defRPr sz="1500" b="0">
                <a:solidFill>
                  <a:srgbClr val="333333"/>
                </a:solidFill>
                <a:latin typeface="Segoe UI"/>
              </a:defRPr>
            </a:pPr>
            <a:r>
              <a:t>✓ hosted deploy</a:t>
            </a:r>
          </a:p>
        </p:txBody>
      </p:sp>
      <p:cxnSp>
        <p:nvCxnSpPr>
          <p:cNvPr id="11" name="Connector 10"/>
          <p:cNvCxnSpPr/>
          <p:nvPr/>
        </p:nvCxnSpPr>
        <p:spPr>
          <a:xfrm>
            <a:off x="4892040" y="3063240"/>
            <a:ext cx="2377440" cy="0"/>
          </a:xfrm>
          <a:prstGeom prst="line">
            <a:avLst/>
          </a:prstGeom>
          <a:ln w="381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0" y="3703320"/>
            <a:ext cx="3063240" cy="7315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50" b="1">
                <a:solidFill>
                  <a:srgbClr val="0B2E59"/>
                </a:solidFill>
                <a:latin typeface="Segoe UI"/>
              </a:defRPr>
            </a:pPr>
            <a:r>
              <a:t>Connect only through governed tools and identity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IQ vs Fabric IQ — when to use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502920" y="1005840"/>
          <a:ext cx="11201399" cy="5166360"/>
        </p:xfrm>
        <a:graphic>
          <a:graphicData uri="http://schemas.openxmlformats.org/drawingml/2006/table">
            <a:tbl>
              <a:tblPr firstRow="1" bandRow="1">
                <a:tableStyleId>{5C22544A-7EE6-4342-B048-85BDC9FD1C3A}</a:tableStyleId>
              </a:tblPr>
              <a:tblGrid>
                <a:gridCol w="1600200"/>
                <a:gridCol w="4663439"/>
                <a:gridCol w="4937760"/>
              </a:tblGrid>
              <a:tr h="738051">
                <a:tc>
                  <a:txBody>
                    <a:bodyPr wrap="square"/>
                    <a:lstStyle/>
                    <a:p>
                      <a:pPr algn="ctr">
                        <a:defRPr sz="1150" b="1">
                          <a:solidFill>
                            <a:srgbClr val="FFFFFF"/>
                          </a:solidFill>
                          <a:latin typeface="Segoe UI"/>
                        </a:defRPr>
                      </a:pPr>
                      <a:r>
                        <a:rPr sz="1150" b="1">
                          <a:solidFill>
                            <a:srgbClr val="FFFFFF"/>
                          </a:solidFill>
                          <a:latin typeface="Segoe UI"/>
                        </a:rPr>
                        <a:t>Decision</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Foundry IQ</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Fabric IQ</a:t>
                      </a:r>
                    </a:p>
                  </a:txBody>
                  <a:tcPr marL="36576" marR="36576" marT="18288" marB="18288" anchor="ctr">
                    <a:solidFill>
                      <a:srgbClr val="0B2E59"/>
                    </a:solidFill>
                  </a:tcPr>
                </a:tc>
              </a:tr>
              <a:tr h="738051">
                <a:tc>
                  <a:txBody>
                    <a:bodyPr wrap="square"/>
                    <a:lstStyle/>
                    <a:p>
                      <a:pPr algn="l">
                        <a:defRPr sz="1060" b="0">
                          <a:solidFill>
                            <a:srgbClr val="333333"/>
                          </a:solidFill>
                          <a:latin typeface="Segoe UI"/>
                        </a:defRPr>
                      </a:pPr>
                      <a:r>
                        <a:rPr sz="1060" b="0">
                          <a:solidFill>
                            <a:srgbClr val="333333"/>
                          </a:solidFill>
                          <a:latin typeface="Segoe UI"/>
                        </a:rPr>
                        <a:t>Primary job</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Ground answers in curated documents and knowledge.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Answer governed business-data questions through Fabric data agents and ontology.</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Best data</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Guides, policies, FAQs, PDFs, indexed files and knowledge sources.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Lakehouse, semantic model, ontology, aggregate business facts and relationships.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Question shape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What should Rahim do? What does the guide say?</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Which regions, programmes or cohorts need attention?</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Identity</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Project connection and knowledge permissions.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Same tenant, user identity passthrough, Fabric permissions.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Output</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Cited answer or structured JSON with source documents.</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Aggregate answer from published Fabric data agent; no resident_id leakage.</a:t>
                      </a:r>
                    </a:p>
                  </a:txBody>
                  <a:tcPr marL="36576" marR="36576" marT="18288" marB="18288" anchor="ctr">
                    <a:solidFill>
                      <a:srgbClr val="FFFFFF"/>
                    </a:solidFill>
                  </a:tcPr>
                </a:tc>
              </a:tr>
              <a:tr h="738054">
                <a:tc>
                  <a:txBody>
                    <a:bodyPr wrap="square"/>
                    <a:lstStyle/>
                    <a:p>
                      <a:pPr algn="l">
                        <a:defRPr sz="1060" b="0">
                          <a:solidFill>
                            <a:srgbClr val="333333"/>
                          </a:solidFill>
                          <a:latin typeface="Segoe UI"/>
                        </a:defRPr>
                      </a:pPr>
                      <a:r>
                        <a:rPr sz="1060" b="0">
                          <a:solidFill>
                            <a:srgbClr val="333333"/>
                          </a:solidFill>
                          <a:latin typeface="Segoe UI"/>
                        </a:rPr>
                        <a:t>Use when</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should be evidence-backed by written guidance.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depends on governed enterprise data or ontology relationships.</a:t>
                      </a:r>
                    </a:p>
                  </a:txBody>
                  <a:tcPr marL="36576" marR="36576" marT="18288" marB="18288" anchor="ctr">
                    <a:solidFill>
                      <a:srgbClr val="F7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Three Fabric integration paths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502920" y="960120"/>
          <a:ext cx="11201399" cy="5212080"/>
        </p:xfrm>
        <a:graphic>
          <a:graphicData uri="http://schemas.openxmlformats.org/drawingml/2006/table">
            <a:tbl>
              <a:tblPr firstRow="1" bandRow="1">
                <a:tableStyleId>{5C22544A-7EE6-4342-B048-85BDC9FD1C3A}</a:tableStyleId>
              </a:tblPr>
              <a:tblGrid>
                <a:gridCol w="2103119"/>
                <a:gridCol w="5715000"/>
                <a:gridCol w="3383280"/>
              </a:tblGrid>
              <a:tr h="1042416">
                <a:tc>
                  <a:txBody>
                    <a:bodyPr wrap="square"/>
                    <a:lstStyle/>
                    <a:p>
                      <a:pPr algn="ctr">
                        <a:defRPr sz="1100" b="1">
                          <a:solidFill>
                            <a:srgbClr val="FFFFFF"/>
                          </a:solidFill>
                          <a:latin typeface="Segoe UI"/>
                        </a:defRPr>
                      </a:pPr>
                      <a:r>
                        <a:rPr sz="1100" b="1">
                          <a:solidFill>
                            <a:srgbClr val="FFFFFF"/>
                          </a:solidFill>
                          <a:latin typeface="Segoe UI"/>
                        </a:rPr>
                        <a:t>Path</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Prerequisites</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Best fit</a:t>
                      </a:r>
                    </a:p>
                  </a:txBody>
                  <a:tcPr marL="36576" marR="36576" marT="18288" marB="18288" anchor="ctr">
                    <a:solidFill>
                      <a:srgbClr val="0B2E59"/>
                    </a:solidFill>
                  </a:tcPr>
                </a:tc>
              </a:tr>
              <a:tr h="1042416">
                <a:tc>
                  <a:txBody>
                    <a:bodyPr wrap="square"/>
                    <a:lstStyle/>
                    <a:p>
                      <a:pPr algn="l">
                        <a:defRPr sz="990" b="0">
                          <a:solidFill>
                            <a:srgbClr val="333333"/>
                          </a:solidFill>
                          <a:latin typeface="Segoe UI"/>
                        </a:defRPr>
                      </a:pPr>
                      <a:r>
                        <a:rPr sz="990" b="0">
                          <a:solidFill>
                            <a:srgbClr val="333333"/>
                          </a:solidFill>
                          <a:latin typeface="Segoe UI"/>
                        </a:rPr>
                        <a:t>Fabric IQ tool</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Published data agent via OneLake Catalog; same tenant; user identity passthrough; F2+ paid capacity; Foundry Project Manager creates the connection.</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Programme-level aggregate questions through the Resident360 Ontology Agent.</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OneLake / Fabric as Foundry IQ source (preview)</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Indexed knowledge source over Fabric / OneLake content; preview limits labelled; use when documents or files are the grounding source.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Treat curated Fabric files as knowledge, not as live ontology reasoning.</a:t>
                      </a:r>
                    </a:p>
                  </a:txBody>
                  <a:tcPr marL="36576" marR="36576" marT="18288" marB="18288" anchor="ctr">
                    <a:solidFill>
                      <a:srgbClr val="F7FAFC"/>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Ontology MCP server (preview)</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MCP server fronts ontology/data-agent calls; approval and audit posture defined by the server.</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Advanced custom tool path when portal Fabric IQ is not enough.</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Function/OpenAPI over Fabric ML /score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Fabric ML endpoint exposed as a normal callable tool; schema, auth and throttling handled like any other tool.</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Score or classify a request without exposing the model endpoint on slides.</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Guardrail &amp; evaluation scorecard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graphicFrame>
        <p:nvGraphicFramePr>
          <p:cNvPr id="7" name="Table 6"/>
          <p:cNvGraphicFramePr>
            <a:graphicFrameLocks noGrp="1"/>
          </p:cNvGraphicFramePr>
          <p:nvPr/>
        </p:nvGraphicFramePr>
        <p:xfrm>
          <a:off x="502920" y="960120"/>
          <a:ext cx="11201400" cy="3154680"/>
        </p:xfrm>
        <a:graphic>
          <a:graphicData uri="http://schemas.openxmlformats.org/drawingml/2006/table">
            <a:tbl>
              <a:tblPr firstRow="1" bandRow="1">
                <a:tableStyleId>{5C22544A-7EE6-4342-B048-85BDC9FD1C3A}</a:tableStyleId>
              </a:tblPr>
              <a:tblGrid>
                <a:gridCol w="2743200"/>
                <a:gridCol w="3291840"/>
                <a:gridCol w="2514600"/>
                <a:gridCol w="2651760"/>
              </a:tblGrid>
              <a:tr h="394335">
                <a:tc>
                  <a:txBody>
                    <a:bodyPr wrap="square"/>
                    <a:lstStyle/>
                    <a:p>
                      <a:pPr algn="ctr">
                        <a:defRPr sz="1080" b="1">
                          <a:solidFill>
                            <a:srgbClr val="FFFFFF"/>
                          </a:solidFill>
                          <a:latin typeface="Segoe UI"/>
                        </a:defRPr>
                      </a:pPr>
                      <a:r>
                        <a:rPr sz="1080" b="1">
                          <a:solidFill>
                            <a:srgbClr val="FFFFFF"/>
                          </a:solidFill>
                          <a:latin typeface="Segoe UI"/>
                        </a:rPr>
                        <a:t>Ladder prompt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Layer doing the work</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livewell-guardrails + safety block</a:t>
                      </a:r>
                    </a:p>
                  </a:txBody>
                  <a:tcPr marL="36576" marR="36576" marT="18288" marB="18288" anchor="ctr">
                    <a:solidFill>
                      <a:srgbClr val="0B2E59"/>
                    </a:solidFill>
                  </a:tcPr>
                </a:tc>
              </a:tr>
              <a:tr h="394335">
                <a:tc>
                  <a:txBody>
                    <a:bodyPr wrap="square"/>
                    <a:lstStyle/>
                    <a:p>
                      <a:pPr algn="l">
                        <a:defRPr sz="1040" b="0">
                          <a:solidFill>
                            <a:srgbClr val="333333"/>
                          </a:solidFill>
                          <a:latin typeface="Segoe UI"/>
                        </a:defRPr>
                      </a:pPr>
                      <a:r>
                        <a:rPr sz="1040" b="0">
                          <a:solidFill>
                            <a:srgbClr val="333333"/>
                          </a:solidFill>
                          <a:latin typeface="Segoe UI"/>
                        </a:rPr>
                        <a:t>Extreme fasting</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instructions (safety block)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Double my medication dose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BLOCKED before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Injected flyer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Prompt Shields indirect</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Another resident's profile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instructions + tool scoping</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Skip meals (self-harm,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self-harm threshold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(self-harm)</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control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none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dose reminder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false positive</a:t>
                      </a:r>
                    </a:p>
                  </a:txBody>
                  <a:tcPr marL="36576" marR="36576" marT="18288" marB="18288" anchor="ctr">
                    <a:solidFill>
                      <a:srgbClr val="FFFFFF"/>
                    </a:solidFill>
                  </a:tcPr>
                </a:tc>
              </a:tr>
            </a:tbl>
          </a:graphicData>
        </a:graphic>
      </p:graphicFrame>
      <p:sp>
        <p:nvSpPr>
          <p:cNvPr id="8" name="Rounded Rectangle 7"/>
          <p:cNvSpPr/>
          <p:nvPr/>
        </p:nvSpPr>
        <p:spPr>
          <a:xfrm>
            <a:off x="685800" y="4389120"/>
            <a:ext cx="3520440" cy="1417320"/>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Block vs annotate</a:t>
            </a:r>
          </a:p>
          <a:p>
            <a:pPr algn="ctr">
              <a:defRPr sz="1150" b="1">
                <a:solidFill>
                  <a:srgbClr val="0B2E59"/>
                </a:solidFill>
                <a:latin typeface="Segoe UI"/>
              </a:defRPr>
            </a:pPr>
            <a:r>
              <a:t>At the threshold: blocked, HTTP 400, Failed trace.</a:t>
            </a:r>
          </a:p>
          <a:p>
            <a:pPr algn="ctr">
              <a:defRPr sz="1150" b="1">
                <a:solidFill>
                  <a:srgbClr val="0B2E59"/>
                </a:solidFill>
                <a:latin typeface="Segoe UI"/>
              </a:defRPr>
            </a:pPr>
            <a:r>
              <a:t>Below it: answered, severity recorded.</a:t>
            </a:r>
          </a:p>
        </p:txBody>
      </p:sp>
      <p:sp>
        <p:nvSpPr>
          <p:cNvPr id="9" name="Rounded Rectangle 8"/>
          <p:cNvSpPr/>
          <p:nvPr/>
        </p:nvSpPr>
        <p:spPr>
          <a:xfrm>
            <a:off x="4434840" y="4389120"/>
            <a:ext cx="3749039" cy="14173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Evaluators · read, do not run</a:t>
            </a:r>
          </a:p>
          <a:p>
            <a:pPr algn="ctr">
              <a:defRPr sz="1150" b="1">
                <a:solidFill>
                  <a:srgbClr val="0B2E59"/>
                </a:solidFill>
                <a:latin typeface="Segoe UI"/>
              </a:defRPr>
            </a:pPr>
            <a:r>
              <a:t>Review the shared completed comparison:</a:t>
            </a:r>
          </a:p>
          <a:p>
            <a:pPr algn="ctr">
              <a:defRPr sz="1150" b="1">
                <a:solidFill>
                  <a:srgbClr val="0B2E59"/>
                </a:solidFill>
                <a:latin typeface="Segoe UI"/>
              </a:defRPr>
            </a:pPr>
            <a:r>
              <a:t>groundedness · relevance · task adherence · tool-call accuracy · intent resolution · condition checks</a:t>
            </a:r>
          </a:p>
        </p:txBody>
      </p:sp>
      <p:sp>
        <p:nvSpPr>
          <p:cNvPr id="10" name="Rounded Rectangle 9"/>
          <p:cNvSpPr/>
          <p:nvPr/>
        </p:nvSpPr>
        <p:spPr>
          <a:xfrm>
            <a:off x="8412480" y="4389120"/>
            <a:ext cx="3108960" cy="1417320"/>
          </a:xfrm>
          <a:prstGeom prst="roundRect">
            <a:avLst/>
          </a:prstGeom>
          <a:solidFill>
            <a:srgbClr val="F4F8FA"/>
          </a:solidFill>
          <a:ln w="1270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Red team</a:t>
            </a:r>
          </a:p>
          <a:p>
            <a:pPr algn="ctr">
              <a:defRPr sz="1300" b="1">
                <a:solidFill>
                  <a:srgbClr val="0B2E59"/>
                </a:solidFill>
                <a:latin typeface="Segoe UI"/>
              </a:defRPr>
            </a:pPr>
            <a:r>
              <a:t>Facilitator via SDK path</a:t>
            </a:r>
          </a:p>
          <a:p>
            <a:pPr algn="ctr">
              <a:defRPr sz="1300" b="1">
                <a:solidFill>
                  <a:srgbClr val="0B2E59"/>
                </a:solidFill>
                <a:latin typeface="Segoe UI"/>
              </a:defRPr>
            </a:pPr>
            <a:r>
              <a:t>approx. US$42 per scan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Cost &amp; controls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graphicFrame>
        <p:nvGraphicFramePr>
          <p:cNvPr id="7" name="Table 6"/>
          <p:cNvGraphicFramePr>
            <a:graphicFrameLocks noGrp="1"/>
          </p:cNvGraphicFramePr>
          <p:nvPr/>
        </p:nvGraphicFramePr>
        <p:xfrm>
          <a:off x="502920" y="960120"/>
          <a:ext cx="6629400" cy="4434840"/>
        </p:xfrm>
        <a:graphic>
          <a:graphicData uri="http://schemas.openxmlformats.org/drawingml/2006/table">
            <a:tbl>
              <a:tblPr firstRow="1" bandRow="1">
                <a:tableStyleId>{5C22544A-7EE6-4342-B048-85BDC9FD1C3A}</a:tableStyleId>
              </a:tblPr>
              <a:tblGrid>
                <a:gridCol w="4800600"/>
                <a:gridCol w="914400"/>
                <a:gridCol w="914400"/>
              </a:tblGrid>
              <a:tr h="492760">
                <a:tc>
                  <a:txBody>
                    <a:bodyPr wrap="square"/>
                    <a:lstStyle/>
                    <a:p>
                      <a:pPr algn="ctr">
                        <a:defRPr sz="1050" b="1">
                          <a:solidFill>
                            <a:srgbClr val="FFFFFF"/>
                          </a:solidFill>
                          <a:latin typeface="Segoe UI"/>
                        </a:defRPr>
                      </a:pPr>
                      <a:r>
                        <a:rPr sz="1050" b="1">
                          <a:solidFill>
                            <a:srgbClr val="FFFFFF"/>
                          </a:solidFill>
                          <a:latin typeface="Segoe UI"/>
                        </a:rPr>
                        <a:t>Line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Low</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High</a:t>
                      </a:r>
                    </a:p>
                  </a:txBody>
                  <a:tcPr marL="36576" marR="36576" marT="18288" marB="18288" anchor="ctr">
                    <a:solidFill>
                      <a:srgbClr val="0B2E59"/>
                    </a:solidFill>
                  </a:tcPr>
                </a:tc>
              </a:tr>
              <a:tr h="492760">
                <a:tc>
                  <a:txBody>
                    <a:bodyPr wrap="square"/>
                    <a:lstStyle/>
                    <a:p>
                      <a:pPr algn="l">
                        <a:defRPr sz="969" b="0">
                          <a:solidFill>
                            <a:srgbClr val="333333"/>
                          </a:solidFill>
                          <a:latin typeface="Segoe UI"/>
                        </a:defRPr>
                      </a:pPr>
                      <a:r>
                        <a:rPr sz="969" b="0">
                          <a:solidFill>
                            <a:srgbClr val="333333"/>
                          </a:solidFill>
                          <a:latin typeface="Segoe UI"/>
                        </a:rPr>
                        <a:t>Model tokens (20 x 150 runs x buffer)</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60</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Quality evaluations</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Red teaming / safety evals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42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42</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Azure AI Search, 120 h</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40</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Semantic ranker, Bing, Code Interpreter, hosted agents, ACR, storage/App Insights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~18</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Total</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approx. 83</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approx. 166</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Every participant runs a full red-team scan</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+126</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approx. 292</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Fabric F2, 16 h active</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+6</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+6</a:t>
                      </a:r>
                    </a:p>
                  </a:txBody>
                  <a:tcPr marL="36576" marR="36576" marT="18288" marB="18288" anchor="ctr">
                    <a:solidFill>
                      <a:srgbClr val="F7FAFC"/>
                    </a:solidFill>
                  </a:tcPr>
                </a:tc>
              </a:tr>
            </a:tbl>
          </a:graphicData>
        </a:graphic>
      </p:graphicFrame>
      <p:sp>
        <p:nvSpPr>
          <p:cNvPr id="8" name="Rounded Rectangle 7"/>
          <p:cNvSpPr/>
          <p:nvPr/>
        </p:nvSpPr>
        <p:spPr>
          <a:xfrm>
            <a:off x="7452360" y="960120"/>
            <a:ext cx="4160520" cy="5029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Controls</a:t>
            </a:r>
          </a:p>
        </p:txBody>
      </p:sp>
      <p:sp>
        <p:nvSpPr>
          <p:cNvPr id="9" name="TextBox 8"/>
          <p:cNvSpPr txBox="1"/>
          <p:nvPr/>
        </p:nvSpPr>
        <p:spPr>
          <a:xfrm>
            <a:off x="7543800" y="1691640"/>
            <a:ext cx="3977639" cy="2377440"/>
          </a:xfrm>
          <a:prstGeom prst="rect">
            <a:avLst/>
          </a:prstGeom>
          <a:noFill/>
        </p:spPr>
        <p:txBody>
          <a:bodyPr wrap="square" lIns="73152" rIns="73152" bIns="36576" anchor="t">
            <a:spAutoFit/>
          </a:bodyPr>
          <a:lstStyle/>
          <a:p>
            <a:pPr algn="l">
              <a:defRPr sz="1220" b="0">
                <a:solidFill>
                  <a:srgbClr val="333333"/>
                </a:solidFill>
                <a:latin typeface="Segoe UI"/>
              </a:defRPr>
            </a:pPr>
            <a:r>
              <a:t>• One shared search service and KB</a:t>
            </a:r>
          </a:p>
          <a:p>
            <a:pPr algn="l">
              <a:defRPr sz="1220" b="0">
                <a:solidFill>
                  <a:srgbClr val="333333"/>
                </a:solidFill>
                <a:latin typeface="Segoe UI"/>
              </a:defRPr>
            </a:pPr>
            <a:r>
              <a:t>• gpt-5-mini default (reasoning Low); TPM caps; no PTU</a:t>
            </a:r>
          </a:p>
          <a:p>
            <a:pPr algn="l">
              <a:defRPr sz="1220" b="0">
                <a:solidFill>
                  <a:srgbClr val="333333"/>
                </a:solidFill>
                <a:latin typeface="Segoe UI"/>
              </a:defRPr>
            </a:pPr>
            <a:r>
              <a:t>• Red teaming facilitator-run; lite scan only if enabled</a:t>
            </a:r>
          </a:p>
          <a:p>
            <a:pPr algn="l">
              <a:defRPr sz="1220" b="0">
                <a:solidFill>
                  <a:srgbClr val="333333"/>
                </a:solidFill>
                <a:latin typeface="Segoe UI"/>
              </a:defRPr>
            </a:pPr>
            <a:r>
              <a:t>• Bing off by default; budgets at US$150 and US$300</a:t>
            </a:r>
          </a:p>
          <a:p>
            <a:pPr algn="l">
              <a:defRPr sz="1220" b="0">
                <a:solidFill>
                  <a:srgbClr val="333333"/>
                </a:solidFill>
                <a:latin typeface="Segoe UI"/>
              </a:defRPr>
            </a:pPr>
            <a:r>
              <a:t>• Fabric capacity paused nightly; teardown at T+1</a:t>
            </a:r>
          </a:p>
        </p:txBody>
      </p:sp>
      <p:sp>
        <p:nvSpPr>
          <p:cNvPr id="10" name="Rounded Rectangle 9"/>
          <p:cNvSpPr/>
          <p:nvPr/>
        </p:nvSpPr>
        <p:spPr>
          <a:xfrm>
            <a:off x="7543800" y="4572000"/>
            <a:ext cx="3886200" cy="77724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Fabric F2 line</a:t>
            </a:r>
          </a:p>
          <a:p>
            <a:pPr algn="ctr">
              <a:defRPr sz="1300" b="1">
                <a:solidFill>
                  <a:srgbClr val="0B2E59"/>
                </a:solidFill>
                <a:latin typeface="Segoe UI"/>
              </a:defRPr>
            </a:pPr>
            <a:r>
              <a:t>approx. US$0.36/h; approx. US$259/month if left on; F4 doubles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Getting started / resources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19</a:t>
            </a:r>
          </a:p>
        </p:txBody>
      </p:sp>
      <p:sp>
        <p:nvSpPr>
          <p:cNvPr id="7" name="Rounded Rectangle 6"/>
          <p:cNvSpPr/>
          <p:nvPr/>
        </p:nvSpPr>
        <p:spPr>
          <a:xfrm>
            <a:off x="594360" y="914400"/>
            <a:ext cx="534924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Workshop repo</a:t>
            </a:r>
          </a:p>
        </p:txBody>
      </p:sp>
      <p:sp>
        <p:nvSpPr>
          <p:cNvPr id="8" name="TextBox 7"/>
          <p:cNvSpPr txBox="1"/>
          <p:nvPr/>
        </p:nvSpPr>
        <p:spPr>
          <a:xfrm>
            <a:off x="777240" y="1783080"/>
            <a:ext cx="4892040" cy="594360"/>
          </a:xfrm>
          <a:prstGeom prst="rect">
            <a:avLst/>
          </a:prstGeom>
          <a:noFill/>
        </p:spPr>
        <p:txBody>
          <a:bodyPr wrap="square" lIns="73152" rIns="73152" bIns="36576" anchor="t">
            <a:spAutoFit/>
          </a:bodyPr>
          <a:lstStyle/>
          <a:p>
            <a:pPr algn="l">
              <a:defRPr sz="1300" b="0">
                <a:solidFill>
                  <a:srgbClr val="333333"/>
                </a:solidFill>
                <a:latin typeface="Segoe UI"/>
              </a:defRPr>
            </a:pPr>
            <a:r>
              <a:t>https://github.com/tonirex/hpb-foundry-workshop</a:t>
            </a:r>
          </a:p>
          <a:p>
            <a:pPr algn="l">
              <a:defRPr sz="1300" b="0">
                <a:solidFill>
                  <a:srgbClr val="333333"/>
                </a:solidFill>
                <a:latin typeface="Segoe UI"/>
              </a:defRPr>
            </a:pPr>
            <a:r>
              <a:t>One lab page: Navigator + Builder</a:t>
            </a:r>
          </a:p>
        </p:txBody>
      </p:sp>
      <p:sp>
        <p:nvSpPr>
          <p:cNvPr id="9" name="Rounded Rectangle 8"/>
          <p:cNvSpPr/>
          <p:nvPr/>
        </p:nvSpPr>
        <p:spPr>
          <a:xfrm>
            <a:off x="594360" y="2606040"/>
            <a:ext cx="5349240" cy="5029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FFFFFF"/>
                </a:solidFill>
                <a:latin typeface="Segoe UI"/>
              </a:defRPr>
            </a:pPr>
            <a:r>
              <a:t>Official repos</a:t>
            </a:r>
          </a:p>
        </p:txBody>
      </p:sp>
      <p:sp>
        <p:nvSpPr>
          <p:cNvPr id="10" name="TextBox 9"/>
          <p:cNvSpPr txBox="1"/>
          <p:nvPr/>
        </p:nvSpPr>
        <p:spPr>
          <a:xfrm>
            <a:off x="777240" y="3291840"/>
            <a:ext cx="4892040" cy="2240280"/>
          </a:xfrm>
          <a:prstGeom prst="rect">
            <a:avLst/>
          </a:prstGeom>
          <a:noFill/>
        </p:spPr>
        <p:txBody>
          <a:bodyPr wrap="square" lIns="73152" rIns="73152" bIns="36576" anchor="t">
            <a:spAutoFit/>
          </a:bodyPr>
          <a:lstStyle/>
          <a:p>
            <a:pPr algn="l">
              <a:defRPr sz="1180" b="0">
                <a:solidFill>
                  <a:srgbClr val="333333"/>
                </a:solidFill>
                <a:latin typeface="Segoe UI"/>
              </a:defRPr>
            </a:pPr>
            <a:r>
              <a:t>• microsoft/azure-skills (Foundry Skill)</a:t>
            </a:r>
          </a:p>
          <a:p>
            <a:pPr algn="l">
              <a:defRPr sz="1180" b="0">
                <a:solidFill>
                  <a:srgbClr val="333333"/>
                </a:solidFill>
                <a:latin typeface="Segoe UI"/>
              </a:defRPr>
            </a:pPr>
            <a:r>
              <a:t>• MicrosoftLearning/mslearn-ai-agents</a:t>
            </a:r>
          </a:p>
          <a:p>
            <a:pPr algn="l">
              <a:defRPr sz="1180" b="0">
                <a:solidFill>
                  <a:srgbClr val="333333"/>
                </a:solidFill>
                <a:latin typeface="Segoe UI"/>
              </a:defRPr>
            </a:pPr>
            <a:r>
              <a:t>• microsoft/iq-series</a:t>
            </a:r>
          </a:p>
          <a:p>
            <a:pPr algn="l">
              <a:defRPr sz="1180" b="0">
                <a:solidFill>
                  <a:srgbClr val="333333"/>
                </a:solidFill>
                <a:latin typeface="Segoe UI"/>
              </a:defRPr>
            </a:pPr>
            <a:r>
              <a:t>• microsoft-foundry/Foundry_Toolkit_for_VSCode_Lab</a:t>
            </a:r>
          </a:p>
          <a:p>
            <a:pPr algn="l">
              <a:defRPr sz="1180" b="0">
                <a:solidFill>
                  <a:srgbClr val="333333"/>
                </a:solidFill>
                <a:latin typeface="Segoe UI"/>
              </a:defRPr>
            </a:pPr>
            <a:r>
              <a:t>• microsoft/agent-framework</a:t>
            </a:r>
          </a:p>
        </p:txBody>
      </p:sp>
      <p:sp>
        <p:nvSpPr>
          <p:cNvPr id="11" name="Rounded Rectangle 10"/>
          <p:cNvSpPr/>
          <p:nvPr/>
        </p:nvSpPr>
        <p:spPr>
          <a:xfrm>
            <a:off x="6355080" y="914400"/>
            <a:ext cx="525780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Microsoft Learn titles</a:t>
            </a:r>
          </a:p>
        </p:txBody>
      </p:sp>
      <p:sp>
        <p:nvSpPr>
          <p:cNvPr id="12" name="TextBox 11"/>
          <p:cNvSpPr txBox="1"/>
          <p:nvPr/>
        </p:nvSpPr>
        <p:spPr>
          <a:xfrm>
            <a:off x="6537960" y="1783080"/>
            <a:ext cx="4892040" cy="4389120"/>
          </a:xfrm>
          <a:prstGeom prst="rect">
            <a:avLst/>
          </a:prstGeom>
          <a:noFill/>
        </p:spPr>
        <p:txBody>
          <a:bodyPr wrap="square" lIns="73152" rIns="73152" bIns="36576" anchor="t">
            <a:spAutoFit/>
          </a:bodyPr>
          <a:lstStyle/>
          <a:p>
            <a:pPr algn="l">
              <a:defRPr sz="1030" b="0">
                <a:solidFill>
                  <a:srgbClr val="333333"/>
                </a:solidFill>
                <a:latin typeface="Segoe UI"/>
              </a:defRPr>
            </a:pPr>
            <a:r>
              <a:t>• Use the Microsoft Fabric data agent with Foundry agents</a:t>
            </a:r>
          </a:p>
          <a:p>
            <a:pPr algn="l">
              <a:defRPr sz="1030" b="0">
                <a:solidFill>
                  <a:srgbClr val="333333"/>
                </a:solidFill>
                <a:latin typeface="Segoe UI"/>
              </a:defRPr>
            </a:pPr>
            <a:r>
              <a:t>• Add Fabric data agents to a Foundry agent with Fabric IQ</a:t>
            </a:r>
          </a:p>
          <a:p>
            <a:pPr algn="l">
              <a:defRPr sz="1030" b="0">
                <a:solidFill>
                  <a:srgbClr val="333333"/>
                </a:solidFill>
                <a:latin typeface="Segoe UI"/>
              </a:defRPr>
            </a:pPr>
            <a:r>
              <a:t>• Connect a Foundry IQ knowledge base to Foundry Agent Service</a:t>
            </a:r>
          </a:p>
          <a:p>
            <a:pPr algn="l">
              <a:defRPr sz="1030" b="0">
                <a:solidFill>
                  <a:srgbClr val="333333"/>
                </a:solidFill>
                <a:latin typeface="Segoe UI"/>
              </a:defRPr>
            </a:pPr>
            <a:r>
              <a:t>• Add guardrails to a hosted agent</a:t>
            </a:r>
          </a:p>
          <a:p>
            <a:pPr algn="l">
              <a:defRPr sz="1030" b="0">
                <a:solidFill>
                  <a:srgbClr val="333333"/>
                </a:solidFill>
                <a:latin typeface="Segoe UI"/>
              </a:defRPr>
            </a:pPr>
            <a:r>
              <a:t>• Foundry Agent Service limits, quotas, and regional support</a:t>
            </a:r>
          </a:p>
          <a:p>
            <a:pPr algn="l">
              <a:defRPr sz="1030" b="0">
                <a:solidFill>
                  <a:srgbClr val="333333"/>
                </a:solidFill>
                <a:latin typeface="Segoe UI"/>
              </a:defRPr>
            </a:pPr>
            <a:r>
              <a:t>• Azure AI Search regions list</a:t>
            </a:r>
          </a:p>
          <a:p>
            <a:pPr algn="l">
              <a:defRPr sz="1030" b="0">
                <a:solidFill>
                  <a:srgbClr val="333333"/>
                </a:solidFill>
                <a:latin typeface="Segoe UI"/>
              </a:defRPr>
            </a:pPr>
            <a:r>
              <a:t>• Rate limits, region support, and enterprise features for evaluation</a:t>
            </a:r>
          </a:p>
          <a:p>
            <a:pPr algn="l">
              <a:defRPr sz="1030" b="0">
                <a:solidFill>
                  <a:srgbClr val="333333"/>
                </a:solidFill>
                <a:latin typeface="Segoe UI"/>
              </a:defRPr>
            </a:pPr>
            <a:r>
              <a:t>• Items - Create Ontology; Items - Create Data Agent; Data Agent item definition</a:t>
            </a:r>
          </a:p>
          <a:p>
            <a:pPr algn="l">
              <a:defRPr sz="1030" b="0">
                <a:solidFill>
                  <a:srgbClr val="333333"/>
                </a:solidFill>
                <a:latin typeface="Segoe UI"/>
              </a:defRPr>
            </a:pPr>
            <a:r>
              <a:t>• Microsoft.Fabric/capacities Bicep reference; Fabric CLI docs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Close — ten patterns and the extended arc</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20</a:t>
            </a:r>
          </a:p>
        </p:txBody>
      </p:sp>
      <p:graphicFrame>
        <p:nvGraphicFramePr>
          <p:cNvPr id="7" name="Table 6"/>
          <p:cNvGraphicFramePr>
            <a:graphicFrameLocks noGrp="1"/>
          </p:cNvGraphicFramePr>
          <p:nvPr/>
        </p:nvGraphicFramePr>
        <p:xfrm>
          <a:off x="457200" y="914400"/>
          <a:ext cx="11292840" cy="4343400"/>
        </p:xfrm>
        <a:graphic>
          <a:graphicData uri="http://schemas.openxmlformats.org/drawingml/2006/table">
            <a:tbl>
              <a:tblPr firstRow="1" bandRow="1">
                <a:tableStyleId>{5C22544A-7EE6-4342-B048-85BDC9FD1C3A}</a:tableStyleId>
              </a:tblPr>
              <a:tblGrid>
                <a:gridCol w="411480"/>
                <a:gridCol w="2880360"/>
                <a:gridCol w="1097280"/>
                <a:gridCol w="6903720"/>
              </a:tblGrid>
              <a:tr h="394854">
                <a:tc>
                  <a:txBody>
                    <a:bodyPr wrap="square"/>
                    <a:lstStyle/>
                    <a:p>
                      <a:pPr algn="ctr">
                        <a:defRPr sz="980" b="1">
                          <a:solidFill>
                            <a:srgbClr val="FFFFFF"/>
                          </a:solidFill>
                          <a:latin typeface="Segoe UI"/>
                        </a:defRPr>
                      </a:pPr>
                      <a:r>
                        <a:rPr sz="980" b="1">
                          <a:solidFill>
                            <a:srgbClr val="FFFFFF"/>
                          </a:solidFill>
                          <a:latin typeface="Segoe UI"/>
                        </a:rPr>
                        <a:t>#</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Pattern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Lab</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Concrete example</a:t>
                      </a:r>
                    </a:p>
                  </a:txBody>
                  <a:tcPr marL="36576" marR="36576" marT="18288" marB="18288" anchor="ctr">
                    <a:solidFill>
                      <a:srgbClr val="0B2E59"/>
                    </a:solidFill>
                  </a:tcPr>
                </a:tc>
              </a:tr>
              <a:tr h="394854">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Structured intake of screening summary + activity diary -&gt; JSON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{advice, confidence, guides, rationale, personalisation_flags}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Workflow Orchestration</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Coach orchestrator -&gt; Nutrition + Activity specialists</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4</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Knowledge Retrieval</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Foundry IQ KB with citations mandatory</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5</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Citations, traces, evaluator scores, Monitor</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6</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Human-in-the-Loop Review</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Approval before register_interest</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7</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Handling Uncertainty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Route to clinician / HealthHub; never dose medication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8</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Institutional Memory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Memory of preferences and prior interactions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9</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Nutrition + Activity + Programme-Insights merged reply</a:t>
                      </a:r>
                    </a:p>
                  </a:txBody>
                  <a:tcPr marL="36576" marR="36576" marT="18288" marB="18288" anchor="ctr">
                    <a:solidFill>
                      <a:srgbClr val="FFFFFF"/>
                    </a:solidFill>
                  </a:tcPr>
                </a:tc>
              </a:tr>
              <a:tr h="394860">
                <a:tc>
                  <a:txBody>
                    <a:bodyPr wrap="square"/>
                    <a:lstStyle/>
                    <a:p>
                      <a:pPr algn="l">
                        <a:defRPr sz="880" b="0">
                          <a:solidFill>
                            <a:srgbClr val="333333"/>
                          </a:solidFill>
                          <a:latin typeface="Segoe UI"/>
                        </a:defRPr>
                      </a:pPr>
                      <a:r>
                        <a:rPr sz="880" b="0">
                          <a:solidFill>
                            <a:srgbClr val="333333"/>
                          </a:solidFill>
                          <a:latin typeface="Segoe UI"/>
                        </a:rPr>
                        <a:t>10</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Governance &amp; Safety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2 + cross-cutting</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Guardrails, evaluators, red-team scan, RBAC, Entra Agent ID</a:t>
                      </a:r>
                    </a:p>
                  </a:txBody>
                  <a:tcPr marL="36576" marR="36576" marT="18288" marB="18288" anchor="ctr">
                    <a:solidFill>
                      <a:srgbClr val="F7FAFC"/>
                    </a:solidFill>
                  </a:tcPr>
                </a:tc>
              </a:tr>
            </a:tbl>
          </a:graphicData>
        </a:graphic>
      </p:graphicFrame>
      <p:sp>
        <p:nvSpPr>
          <p:cNvPr id="8" name="Chevron 7"/>
          <p:cNvSpPr/>
          <p:nvPr/>
        </p:nvSpPr>
        <p:spPr>
          <a:xfrm>
            <a:off x="8686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Unify</a:t>
            </a:r>
          </a:p>
        </p:txBody>
      </p:sp>
      <p:sp>
        <p:nvSpPr>
          <p:cNvPr id="9" name="Chevron 8"/>
          <p:cNvSpPr/>
          <p:nvPr/>
        </p:nvSpPr>
        <p:spPr>
          <a:xfrm>
            <a:off x="29260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Govern</a:t>
            </a:r>
          </a:p>
        </p:txBody>
      </p:sp>
      <p:sp>
        <p:nvSpPr>
          <p:cNvPr id="10" name="Chevron 9"/>
          <p:cNvSpPr/>
          <p:nvPr/>
        </p:nvSpPr>
        <p:spPr>
          <a:xfrm>
            <a:off x="49834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Personalise</a:t>
            </a:r>
          </a:p>
        </p:txBody>
      </p:sp>
      <p:sp>
        <p:nvSpPr>
          <p:cNvPr id="11" name="Chevron 10"/>
          <p:cNvSpPr/>
          <p:nvPr/>
        </p:nvSpPr>
        <p:spPr>
          <a:xfrm>
            <a:off x="70408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Converse</a:t>
            </a:r>
          </a:p>
        </p:txBody>
      </p:sp>
      <p:sp>
        <p:nvSpPr>
          <p:cNvPr id="12" name="Chevron 11"/>
          <p:cNvSpPr/>
          <p:nvPr/>
        </p:nvSpPr>
        <p:spPr>
          <a:xfrm>
            <a:off x="9098280" y="5559552"/>
            <a:ext cx="1874519" cy="512064"/>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FFFFFF"/>
                </a:solidFill>
                <a:latin typeface="Segoe UI"/>
              </a:defRPr>
            </a:pPr>
            <a:r>
              <a:t>Coach &amp; 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Day 1</dc:title>
  <dc:subject>Slide deck for LiveWell Coach Microsoft Foundry workshop</dc:subject>
  <dc:creator>Antonia Chen</dc:creator>
  <cp:keywords>Microsoft Foundry, LiveWell Coach, HPB</cp:keywords>
  <dc:description>Generated by deck/build_deck.py</dc:description>
  <cp:lastModifiedBy>Antonia Chen</cp:lastModifiedBy>
  <cp:revision>1</cp:revision>
  <dcterms:created xsi:type="dcterms:W3CDTF">2026-09-28T00:00:00Z</dcterms:created>
  <dcterms:modified xsi:type="dcterms:W3CDTF">2026-09-28T00:00:00Z</dcterms:modified>
  <cp:category>Workshop</cp:category>
</cp:coreProperties>
</file>