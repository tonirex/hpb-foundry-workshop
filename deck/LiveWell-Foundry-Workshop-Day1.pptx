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The card carries a Temporary Access Pass: a secret, valid only until the printed time; nobody registers Authenticator. If a sign-in page asks for a method to be set up, stop and fetch a facilitator; never weaken a security setting. Gate: move on when everyone has Wi-Fi, Temporary Access Pass entered once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default and custom ladder live if the environment is healthy; otherwise use the pre-captured traces. The result columns are the expected outcomes from Lab 2: the custom policy moves guardrail blocks from 1 of 7 to 4 of 7. Explain block versus annotate: at or above the threshold the request is blocked (HTTP 400, red banner, Failed trace); below it the answer goes through and the severity is recorded. The dose-reminder row is the cost of a stricter control.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safety of spend: this is an indicative list-price planning range, not a measurement, and the model meters for gpt-5-mini and gpt-4.1-mini were not confirmed, so check the pricing calculator before quoting a figure. Explain that Fabric F2 is cheap during the workshop but expensive if left running all month. The budget is US$500 on the single resource group with alerts at US$250 and US$500: it is a ceiling that alerts, it does not stop spend, and it is not an approved spend. Controls are part of the design, not afterthoughts: one resource group, shared search, small models, capped units, budget alerts and a teardown that also covers Fabric and the temporary accounts.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The repo is private: Builder participants need a GitHub invite or the release ZIP, because their workshop account does not grant GitHub access.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Enter the Temporary Access Pass from your card as the password; there is no Authenticator to register.</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and connected agents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every answer leaves a trace you can inspect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says it is not a doctor and refuses to diagnose; the trace shows one gpt-5-mini call and its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the supplement question routes to a clinician with no invented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the facilitator's pre-run evaluation (look-only); version compare; red team (facilitator demo).</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The ladder shows which layer catches each prompt (blocklist, self-harm at Low, Prompt Shields, instructions), a blocked run appears as Failed in Traces, and you can read the v1 vs v2 handled_safely result from the prepared evaluation.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connected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 compound question calls the profile tool and activities MCP, tailors to Rahim, and waits for approval before register_interest.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Continues Lab 3: add governed population evidence to a personal answer, without sending personal data</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Programme fit chains profile → Fabric IQ (age band only) → activities with approval; Mei's trace shows Fabric IQ; Rahim's food question makes no Fabric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Engineer appendix · facilitator demo</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sequential and hand-off orchestration in DevUI; Programme-Insights specialist; azd deploy (code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Sequential and hand-off runs are visible in DevUI; the hosted endpoint returns JSON and blocks a blocklisted prompt; hosted and playground traces compared.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0B2E59"/>
                </a:solidFill>
                <a:latin typeface="Segoe UI"/>
              </a:defRPr>
            </a:pPr>
            <a:r>
              <a:t>Evaluators (facilitator pre-run, look-only)</a:t>
            </a:r>
          </a:p>
          <a:p>
            <a:pPr algn="ctr">
              <a:defRPr sz="1050" b="1">
                <a:solidFill>
                  <a:srgbClr val="0B2E59"/>
                </a:solidFill>
                <a:latin typeface="Segoe UI"/>
              </a:defRPr>
            </a:pPr>
            <a:r>
              <a:t>The prepared run scores guardrail_blocked, handled_safely (LLM judge) and self_harm. Built-in families to know: groundedness · relevance · task adherence · tool-call accuracy · intent resolution</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Red team</a:t>
            </a:r>
          </a:p>
          <a:p>
            <a:pPr algn="ctr">
              <a:defRPr sz="1150" b="1">
                <a:solidFill>
                  <a:srgbClr val="0B2E59"/>
                </a:solidFill>
                <a:latin typeface="Segoe UI"/>
              </a:defRPr>
            </a:pPr>
            <a:r>
              <a:t>Facilitator only, shown on screen</a:t>
            </a:r>
          </a:p>
          <a:p>
            <a:pPr algn="ctr">
              <a:defRPr sz="1150" b="1">
                <a:solidFill>
                  <a:srgbClr val="0B2E59"/>
                </a:solidFill>
                <a:latin typeface="Segoe UI"/>
              </a:defRPr>
            </a:pPr>
            <a:r>
              <a:t>Paid (approx. US$42 per scan): needs approval; participants run none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1828800"/>
              </a:tblGrid>
              <a:tr h="554355">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US$ (indicative)</a:t>
                      </a:r>
                    </a:p>
                  </a:txBody>
                  <a:tcPr marL="36576" marR="36576" marT="18288" marB="18288" anchor="ctr">
                    <a:solidFill>
                      <a:srgbClr val="0B2E59"/>
                    </a:solidFill>
                  </a:tcPr>
                </a:tc>
              </a:tr>
              <a:tr h="554355">
                <a:tc>
                  <a:txBody>
                    <a:bodyPr wrap="square"/>
                    <a:lstStyle/>
                    <a:p>
                      <a:pPr algn="l">
                        <a:defRPr sz="969" b="0">
                          <a:solidFill>
                            <a:srgbClr val="333333"/>
                          </a:solidFill>
                          <a:latin typeface="Segoe UI"/>
                        </a:defRPr>
                      </a:pPr>
                      <a:r>
                        <a:rPr sz="969" b="0">
                          <a:solidFill>
                            <a:srgbClr val="333333"/>
                          </a:solidFill>
                          <a:latin typeface="Segoe UI"/>
                        </a:rPr>
                        <a:t>Model tokens, 30 people, pay per token (no participant evaluations)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25-50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Azure AI Search Basic, about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Fabric F2, 16-24 h active (about US$0.36/h)</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6-9</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Container Apps, ACR, logs, storage, App Insights, judge tokens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small, not itemised</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Planning range for the whole window, with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100-160</a:t>
                      </a:r>
                    </a:p>
                  </a:txBody>
                  <a:tcPr marL="36576" marR="36576" marT="18288" marB="18288" anchor="ctr">
                    <a:solidFill>
                      <a:srgbClr val="FFFFFF"/>
                    </a:solidFill>
                  </a:tcPr>
                </a:tc>
              </a:tr>
              <a:tr h="554355">
                <a:tc>
                  <a:txBody>
                    <a:bodyPr wrap="square"/>
                    <a:lstStyle/>
                    <a:p>
                      <a:pPr algn="l">
                        <a:defRPr sz="969" b="0">
                          <a:solidFill>
                            <a:srgbClr val="333333"/>
                          </a:solidFill>
                          <a:latin typeface="Segoe UI"/>
                        </a:defRPr>
                      </a:pPr>
                      <a:r>
                        <a:rPr sz="969" b="0">
                          <a:solidFill>
                            <a:srgbClr val="333333"/>
                          </a:solidFill>
                          <a:latin typeface="Segoe UI"/>
                        </a:rPr>
                        <a:t>Facilitator red-team scan (separate approval)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+42 per documented scan</a:t>
                      </a:r>
                    </a:p>
                  </a:txBody>
                  <a:tcPr marL="36576" marR="36576" marT="18288" marB="18288" anchor="ctr">
                    <a:solidFill>
                      <a:srgbClr val="F7FAFC"/>
                    </a:solidFill>
                  </a:tcPr>
                </a:tc>
              </a:tr>
              <a:tr h="554355">
                <a:tc>
                  <a:txBody>
                    <a:bodyPr wrap="square"/>
                    <a:lstStyle/>
                    <a:p>
                      <a:pPr algn="l">
                        <a:defRPr sz="969" b="0">
                          <a:solidFill>
                            <a:srgbClr val="333333"/>
                          </a:solidFill>
                          <a:latin typeface="Segoe UI"/>
                        </a:defRPr>
                      </a:pPr>
                      <a:r>
                        <a:rPr sz="969" b="0">
                          <a:solidFill>
                            <a:srgbClr val="333333"/>
                          </a:solidFill>
                          <a:latin typeface="Segoe UI"/>
                        </a:rPr>
                        <a:t>Participants run evaluations or red teaming</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not allowed</a:t>
                      </a:r>
                    </a:p>
                  </a:txBody>
                  <a:tcPr marL="36576" marR="36576" marT="18288" marB="18288" anchor="ctr">
                    <a:solidFill>
                      <a:srgbClr val="FFFFFF"/>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743200"/>
          </a:xfrm>
          <a:prstGeom prst="rect">
            <a:avLst/>
          </a:prstGeom>
          <a:noFill/>
        </p:spPr>
        <p:txBody>
          <a:bodyPr wrap="square" lIns="73152" rIns="73152" bIns="36576" anchor="t">
            <a:spAutoFit/>
          </a:bodyPr>
          <a:lstStyle/>
          <a:p>
            <a:pPr algn="l">
              <a:defRPr sz="1160" b="0">
                <a:solidFill>
                  <a:srgbClr val="333333"/>
                </a:solidFill>
                <a:latin typeface="Segoe UI"/>
              </a:defRPr>
            </a:pPr>
            <a:r>
              <a:t>• One resource group in swedencentral; one shared search service and KB</a:t>
            </a:r>
          </a:p>
          <a:p>
            <a:pPr algn="l">
              <a:defRPr sz="1160" b="0">
                <a:solidFill>
                  <a:srgbClr val="333333"/>
                </a:solidFill>
                <a:latin typeface="Segoe UI"/>
              </a:defRPr>
            </a:pPr>
            <a:r>
              <a:t>• gpt-5-mini default (reasoning Low), gpt-4.1-mini tools; capped units; no PTU, no model-router</a:t>
            </a:r>
          </a:p>
          <a:p>
            <a:pPr algn="l">
              <a:defRPr sz="1160" b="0">
                <a:solidFill>
                  <a:srgbClr val="333333"/>
                </a:solidFill>
                <a:latin typeface="Segoe UI"/>
              </a:defRPr>
            </a:pPr>
            <a:r>
              <a:t>• Lab 2 is look-only: participants run no evaluation or red team</a:t>
            </a:r>
          </a:p>
          <a:p>
            <a:pPr algn="l">
              <a:defRPr sz="1160" b="0">
                <a:solidFill>
                  <a:srgbClr val="333333"/>
                </a:solidFill>
                <a:latin typeface="Segoe UI"/>
              </a:defRPr>
            </a:pPr>
            <a:r>
              <a:t>• Bing off by default; budget US$500, alerts at US$250 and US$500</a:t>
            </a:r>
          </a:p>
          <a:p>
            <a:pPr algn="l">
              <a:defRPr sz="1160" b="0">
                <a:solidFill>
                  <a:srgbClr val="333333"/>
                </a:solidFill>
                <a:latin typeface="Segoe UI"/>
              </a:defRPr>
            </a:pPr>
            <a:r>
              <a:t>• Fabric F2 paused when idle; teardown at T+1 incl. Fabric workspace and temporary accounts</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resizing needs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457200"/>
          </a:xfrm>
          <a:prstGeom prst="rect">
            <a:avLst/>
          </a:prstGeom>
          <a:noFill/>
        </p:spPr>
        <p:txBody>
          <a:bodyPr wrap="square" lIns="73152" rIns="73152" bIns="36576" anchor="t">
            <a:spAutoFit/>
          </a:bodyPr>
          <a:lstStyle/>
          <a:p>
            <a:pPr algn="l">
              <a:defRPr sz="1400" b="0">
                <a:solidFill>
                  <a:srgbClr val="333333"/>
                </a:solidFill>
                <a:latin typeface="Segoe UI"/>
              </a:defRPr>
            </a:pPr>
            <a:r>
              <a:t>github.com/tonirex/hpb-foundry-workshop</a:t>
            </a:r>
          </a:p>
          <a:p>
            <a:pPr algn="l">
              <a:defRPr sz="1400" b="0">
                <a:solidFill>
                  <a:srgbClr val="333333"/>
                </a:solidFill>
                <a:latin typeface="Segoe UI"/>
              </a:defRPr>
            </a:pPr>
            <a:r>
              <a:t>private: the facilitator invites your GitHub username</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(pre-run, facilitator), red-team demo (facilitator),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