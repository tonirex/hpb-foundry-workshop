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own workshop account (the username on their sign-in card) for all Foundry and Fabric steps. Gate: move on when everyone has Wi-Fi, Authenticator registration started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Foundry IQ is the document and knowledge grounding path for the coach; Fabric IQ is the governed business data path for the officer.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default and custom ladder live if the environment is healthy; otherwise use the pre-captured traces. The result columns are the expected outcomes from Lab 2: the custom policy moves guardrail blocks from 1 of 7 to 4 of 7. Explain block versus annotate: at or above the threshold the request is blocked (HTTP 400, red banner, Failed trace); below it the answer goes through and the severity is recorded. The dose-reminder row is the cost of a stricter control.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sponsorship safety: the low path is the intended operating mode, not the high path. Explain that Fabric F2 is cheap during the workshop but expensive if left running all month. Controls are part of the design, not afterthoughts: shared search, small models, caps, budget alerts and teardown.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reasoning effort, model × tool support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Why two models: gpt-5-mini (Labs 0-2) and gpt-4.1-mini (tools from Lab 3); read model and tokens in the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SDK agents, versioning, orchestration patterns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1 walkthrough; preview Lab 3 Builder code</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incl. Fabric step; Lab 4 demo; bridge;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Authenticator registration happens at first sign-in; keep the phone nearby.</a:t>
            </a:r>
          </a:p>
          <a:p>
            <a:pPr algn="l">
              <a:defRPr sz="1500" b="0">
                <a:solidFill>
                  <a:srgbClr val="333333"/>
                </a:solidFill>
                <a:latin typeface="Segoe UI"/>
              </a:defRPr>
            </a:pPr>
            <a:r>
              <a:t>• Use your own workshop account (on your sign-in card)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gpt-5-mini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gpt-5-mini,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A2A specialists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 Foundry agent is a model plus instructions, and instructions alone can make it safe; every answer leaves a trace you can inspect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reasoning effort; prompt agent; playground; versions; traces.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Agent introduces itself, says it is not a doctor and refuses to diagnose; the trace shows one gpt-5-mini call and its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Pre-diabetes food question cites at least one KB document; the supplement question routes to a clinician with no invented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Govern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Safety is measured, not assumed: apply guardrails, prove behaviour with evaluators, and make every decision auditable in a trace</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Default vs custom guardrail ladder; block vs annotate; Prompt Shields; self-harm threshold; blocklist; traces; built-in/custom evaluators; version compare; red team.</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The ladder shows which layer catches each prompt (blocklist, self-harm at Low, Prompt Shields, instructions) and a blocked run appears as Failed in Traces.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optional A2A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 compound question calls the profile tool and activities MCP, tailors to Rahim, and waits for approval before register_interest.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gated on FABRIC_BRIDGE=true</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Continues Lab 3: add governed population evidence to a personal answer, without sending personal data</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Programme fit chains profile → Fabric IQ (age band only) → activities with approval; Mei's trace shows Fabric IQ; Rahim's food question makes no Fabric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Browser hands-on · facilitator deploy</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LiveWell Coach goes live behind the simulated Healthy 365 channel.</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From playground to production: the same agent behind two doors (portal for people, endpoint for systems), governed by the same policy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Agent Framework sequential and hand-off orchestration in DevUI; Programme-Insights specialist; azd deploy (code deploy); rai_config; hosted tracing.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Sequential and hand-off runs are visible in DevUI; the hosted endpoint returns JSON and blocks a blocklisted prompt; hosted and playground traces compared.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&amp; evaluation scorecard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Evaluators</a:t>
            </a:r>
          </a:p>
          <a:p>
            <a:pPr algn="ctr">
              <a:defRPr sz="1150" b="1">
                <a:solidFill>
                  <a:srgbClr val="0B2E59"/>
                </a:solidFill>
                <a:latin typeface="Segoe UI"/>
              </a:defRPr>
            </a:pPr>
            <a:r>
              <a:t>groundedness · relevance · task adherence · tool-call accuracy · intent resolution · custom "advice matches known conditions"</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Red team</a:t>
            </a:r>
          </a:p>
          <a:p>
            <a:pPr algn="ctr">
              <a:defRPr sz="1300" b="1">
                <a:solidFill>
                  <a:srgbClr val="0B2E59"/>
                </a:solidFill>
                <a:latin typeface="Segoe UI"/>
              </a:defRPr>
            </a:pPr>
            <a:r>
              <a:t>Facilitator via SDK path</a:t>
            </a:r>
          </a:p>
          <a:p>
            <a:pPr algn="ctr">
              <a:defRPr sz="1300" b="1">
                <a:solidFill>
                  <a:srgbClr val="0B2E59"/>
                </a:solidFill>
                <a:latin typeface="Segoe UI"/>
              </a:defRPr>
            </a:pPr>
            <a:r>
              <a:t>approx. US$42 per scan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914400"/>
                <a:gridCol w="914400"/>
              </a:tblGrid>
              <a:tr h="492760">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Low</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High</a:t>
                      </a:r>
                    </a:p>
                  </a:txBody>
                  <a:tcPr marL="36576" marR="36576" marT="18288" marB="18288" anchor="ctr">
                    <a:solidFill>
                      <a:srgbClr val="0B2E59"/>
                    </a:solidFill>
                  </a:tcPr>
                </a:tc>
              </a:tr>
              <a:tr h="492760">
                <a:tc>
                  <a:txBody>
                    <a:bodyPr wrap="square"/>
                    <a:lstStyle/>
                    <a:p>
                      <a:pPr algn="l">
                        <a:defRPr sz="969" b="0">
                          <a:solidFill>
                            <a:srgbClr val="333333"/>
                          </a:solidFill>
                          <a:latin typeface="Segoe UI"/>
                        </a:defRPr>
                      </a:pPr>
                      <a:r>
                        <a:rPr sz="969" b="0">
                          <a:solidFill>
                            <a:srgbClr val="333333"/>
                          </a:solidFill>
                          <a:latin typeface="Segoe UI"/>
                        </a:rPr>
                        <a:t>Model tokens (20 x 150 runs x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60</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Quality evaluations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Red teaming / safety evals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Azure AI Search,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40</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Semantic ranker, Bing, Code Interpreter, hosted agents, ACR, storage/App Insights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~18</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Total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83</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166</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Every participant runs a full red-team scan</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+126</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292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Fabric F2, 16 h active</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377440"/>
          </a:xfrm>
          <a:prstGeom prst="rect">
            <a:avLst/>
          </a:prstGeom>
          <a:noFill/>
        </p:spPr>
        <p:txBody>
          <a:bodyPr wrap="square" lIns="73152" rIns="73152" bIns="36576" anchor="t">
            <a:spAutoFit/>
          </a:bodyPr>
          <a:lstStyle/>
          <a:p>
            <a:pPr algn="l">
              <a:defRPr sz="1220" b="0">
                <a:solidFill>
                  <a:srgbClr val="333333"/>
                </a:solidFill>
                <a:latin typeface="Segoe UI"/>
              </a:defRPr>
            </a:pPr>
            <a:r>
              <a:t>• One shared search service and KB</a:t>
            </a:r>
          </a:p>
          <a:p>
            <a:pPr algn="l">
              <a:defRPr sz="1220" b="0">
                <a:solidFill>
                  <a:srgbClr val="333333"/>
                </a:solidFill>
                <a:latin typeface="Segoe UI"/>
              </a:defRPr>
            </a:pPr>
            <a:r>
              <a:t>• gpt-5-mini default (reasoning Low); TPM caps; no PTU</a:t>
            </a:r>
          </a:p>
          <a:p>
            <a:pPr algn="l">
              <a:defRPr sz="1220" b="0">
                <a:solidFill>
                  <a:srgbClr val="333333"/>
                </a:solidFill>
                <a:latin typeface="Segoe UI"/>
              </a:defRPr>
            </a:pPr>
            <a:r>
              <a:t>• Red teaming facilitator-run; lite scan only if enabled</a:t>
            </a:r>
          </a:p>
          <a:p>
            <a:pPr algn="l">
              <a:defRPr sz="1220" b="0">
                <a:solidFill>
                  <a:srgbClr val="333333"/>
                </a:solidFill>
                <a:latin typeface="Segoe UI"/>
              </a:defRPr>
            </a:pPr>
            <a:r>
              <a:t>• Bing off by default; budgets at US$150 and US$300</a:t>
            </a:r>
          </a:p>
          <a:p>
            <a:pPr algn="l">
              <a:defRPr sz="1220" b="0">
                <a:solidFill>
                  <a:srgbClr val="333333"/>
                </a:solidFill>
                <a:latin typeface="Segoe UI"/>
              </a:defRPr>
            </a:pPr>
            <a:r>
              <a:t>• Fabric capacity paused nightly; teardown at T+1</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F4 doubles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594360"/>
          </a:xfrm>
          <a:prstGeom prst="rect">
            <a:avLst/>
          </a:prstGeom>
          <a:noFill/>
        </p:spPr>
        <p:txBody>
          <a:bodyPr wrap="square" lIns="73152" rIns="73152" bIns="36576" anchor="t">
            <a:spAutoFit/>
          </a:bodyPr>
          <a:lstStyle/>
          <a:p>
            <a:pPr algn="l">
              <a:defRPr sz="1300" b="0">
                <a:solidFill>
                  <a:srgbClr val="333333"/>
                </a:solidFill>
                <a:latin typeface="Segoe UI"/>
              </a:defRPr>
            </a:pPr>
            <a:r>
              <a:t>https://github.com/tonirex/hpb-foundry-workshop</a:t>
            </a:r>
          </a:p>
          <a:p>
            <a:pPr algn="l">
              <a:defRPr sz="1300" b="0">
                <a:solidFill>
                  <a:srgbClr val="333333"/>
                </a:solidFill>
                <a:latin typeface="Segoe UI"/>
              </a:defRPr>
            </a:pPr>
            <a:r>
              <a:t>One lab page: Navigator + Builder</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red-team scan,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