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 Lab 2 batch evaluation is a separate read-only code walkthrough; participants review the facilitator's completed comparison rather than starting their own batches.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A Foundry agent is a model plus instructions, and instructions alone can make it safe; every answer leaves a trace you can inspect. Walk the steps on the left; use the illustration or text-only reference to explain the expected outcome. Close by reading the 'You learned' line aloud: that a Foundry agent starts as model + instructions, and that every answer leaves a trace with the model, the instructions and the token counts.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use the illustration or text-only reference to explain the expected outcome. Close by reading the 'You learned' line aloud: that retrieval is useful only when the agent is required to cite real sources and admit when the corpus is silent.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Safety is measured, not assumed: apply guardrails, prove behaviour with evaluators, and make every decision auditable in a trace. Walk the steps on the left; use the illustration or text-only reference to explain the expected outcome. Close by reading the 'You learned' line aloud: that each safety layer (Prompt Shields, thresholds, blocklists, instructions) catches different things, that a stricter guardrail has a cost, and that guardrails, evaluator scores and traces are the evidence for safe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expected outcomes from the Lab 2 page; confirm them live because content-safety severity is probabilistic.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gpt-5-mini and gpt-4.1-mini,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An agent that acts: personalise on governed data, take real actions with a human in the loop, delegate to specialists, and route each kind of question to the right tool. Walk the steps on the left; use the illustration or text-only reference to explain the expected outcome. Close by reading the 'You learned' line aloud: that Fabric IQ adds governed population evidence to a personal answer, as long as the question sent to it stays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From playground to production: the same agent behind two doors (portal for people, endpoint for systems), governed by the same policy. Walk the steps on the left; use the illustration or text-only reference to explain the expected outcome. Close by reading the 'You learned' line aloud: what changes when an agent moves from playground to endpoint: RBAC, policy attachment, versioning and operational traces.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run the same specialists. Sequential: the code fixes the order with SequentialBuilder, so the route never varies. Hand-off: HandoffBuilder gives each agent handoff_to_&lt;name&gt; tools; the model chooses the route, and the run stops when Activity has answered. Hosted: hosted-agent-example/main.py builds the sequential team, turns it into one agent and serves it with ResponsesHostServer; Foundry adds an agent identity and applies the guardrail to every call. The text_only middleware passes earlier turns as plain text so no agent replays another's tool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use the illustration or text-only reference to explain the expected outcome. Close by reading the 'You learned' line aloud: how to choose the right grounding path before adding tools to an agent.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Model + instructions</a:t>
            </a:r>
          </a:p>
          <a:p>
            <a:pPr algn="ctr">
              <a:spcAft>
                <a:spcPts val="200"/>
              </a:spcAft>
            </a:pPr>
            <a:r>
              <a:rPr sz="950" i="0" b="0">
                <a:solidFill>
                  <a:srgbClr val="333333"/>
                </a:solidFill>
                <a:latin typeface="Segoe UI"/>
              </a:rPr>
              <a:t>every answer leaves a trace</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40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40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Guardrails, traces, evaluations</a:t>
            </a:r>
          </a:p>
          <a:p>
            <a:pPr algn="ctr">
              <a:spcAft>
                <a:spcPts val="200"/>
              </a:spcAft>
            </a:pPr>
            <a:r>
              <a:rPr sz="950" i="0" b="0">
                <a:solidFill>
                  <a:srgbClr val="333333"/>
                </a:solidFill>
                <a:latin typeface="Segoe UI"/>
              </a:rPr>
              <a:t>evidence that it is safe</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40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What can I do indoors near Woodlands, and can you sign me up?”</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15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browser hands-on + demo</a:t>
            </a:r>
          </a:p>
        </p:txBody>
      </p:sp>
      <p:sp>
        <p:nvSpPr>
          <p:cNvPr id="30" name="Chevron 29"/>
          <p:cNvSpPr/>
          <p:nvPr/>
        </p:nvSpPr>
        <p:spPr>
          <a:xfrm>
            <a:off x="854964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4</a:t>
            </a:r>
          </a:p>
          <a:p>
            <a:pPr algn="ctr">
              <a:defRPr sz="1200" b="1">
                <a:solidFill>
                  <a:srgbClr val="FFFFFF"/>
                </a:solidFill>
                <a:latin typeface="Segoe UI"/>
              </a:defRPr>
            </a:pPr>
            <a:r>
              <a:t>30 min</a:t>
            </a:r>
          </a:p>
        </p:txBody>
      </p:sp>
      <p:sp>
        <p:nvSpPr>
          <p:cNvPr id="31" name="Rectangle 30"/>
          <p:cNvSpPr/>
          <p:nvPr/>
        </p:nvSpPr>
        <p:spPr>
          <a:xfrm>
            <a:off x="854964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Specialist team + hosted endpoint</a:t>
            </a:r>
          </a:p>
          <a:p>
            <a:pPr algn="ctr">
              <a:spcAft>
                <a:spcPts val="200"/>
              </a:spcAft>
            </a:pPr>
            <a:r>
              <a:rPr sz="950" i="0" b="0">
                <a:solidFill>
                  <a:srgbClr val="333333"/>
                </a:solidFill>
                <a:latin typeface="Segoe UI"/>
              </a:rPr>
              <a:t>same policy behind two doors</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10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 · Team + endpoint</a:t>
            </a:r>
          </a:p>
        </p:txBody>
      </p:sp>
      <p:sp>
        <p:nvSpPr>
          <p:cNvPr id="8" name="Rectangle 7"/>
          <p:cNvSpPr/>
          <p:nvPr/>
        </p:nvSpPr>
        <p:spPr>
          <a:xfrm>
            <a:off x="4023360" y="1024128"/>
            <a:ext cx="4526279" cy="7315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Nutrition, Activity and Coach as a sequential or hand-off team; hosted endpoint </a:t>
            </a:r>
            <a:r>
              <a:rPr sz="1150" i="0" b="0">
                <a:solidFill>
                  <a:srgbClr val="0B2E59"/>
                </a:solidFill>
                <a:latin typeface="Consolas"/>
              </a:rPr>
              <a:t>livewell-workshop-hosted</a:t>
            </a:r>
            <a:r>
              <a:rPr sz="1150" i="0" b="0">
                <a:solidFill>
                  <a:srgbClr val="333333"/>
                </a:solidFill>
                <a:latin typeface="Segoe UI"/>
              </a:rPr>
              <a:t> with </a:t>
            </a:r>
            <a:r>
              <a:rPr sz="1150" i="0" b="0">
                <a:solidFill>
                  <a:srgbClr val="0B2E59"/>
                </a:solidFill>
                <a:latin typeface="Consolas"/>
              </a:rPr>
              <a:t>rai_config</a:t>
            </a:r>
            <a:r>
              <a:rPr sz="1150" i="0" b="0">
                <a:solidFill>
                  <a:srgbClr val="333333"/>
                </a:solidFill>
                <a:latin typeface="Segoe UI"/>
              </a:rPr>
              <a:t>.</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Coach on </a:t>
            </a:r>
            <a:r>
              <a:rPr sz="1150" i="0" b="0">
                <a:solidFill>
                  <a:srgbClr val="0B2E59"/>
                </a:solidFill>
                <a:latin typeface="Consolas"/>
              </a:rPr>
              <a:t>gpt-4.1-mini</a:t>
            </a:r>
            <a:r>
              <a:rPr sz="1150" i="0" b="0">
                <a:solidFill>
                  <a:srgbClr val="333333"/>
                </a:solidFill>
                <a:latin typeface="Segoe UI"/>
              </a:rPr>
              <a:t>; </a:t>
            </a: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 </a:t>
            </a:r>
            <a:r>
              <a:rPr sz="1150" i="0" b="0">
                <a:solidFill>
                  <a:srgbClr val="0B2E59"/>
                </a:solidFill>
                <a:latin typeface="Consolas"/>
              </a:rPr>
              <a:t>safety</a:t>
            </a:r>
            <a:r>
              <a:rPr sz="1150" i="0" b="0">
                <a:solidFill>
                  <a:srgbClr val="333333"/>
                </a:solidFill>
                <a:latin typeface="Segoe UI"/>
              </a:rPr>
              <a:t>; traces; evaluation code walkthrough and shared baseline/guarded results.</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gpt-5-mini</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What can I do indoors near Woodlands, and can you sign me up?</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r>
              <a:rPr sz="1150" i="0" b="0">
                <a:solidFill>
                  <a:srgbClr val="333333"/>
                </a:solidFill>
                <a:latin typeface="Segoe UI"/>
              </a:rPr>
              <a:t> (no batch evaluation)</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 Foundry agent is a model plus instructions, and instructions alone can make it safe; every answer leaves a trace you can inspect.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own workshop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gpt-5-mini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Reasoning effort </a:t>
            </a:r>
            <a:r>
              <a:rPr sz="1080" i="0" b="1">
                <a:solidFill>
                  <a:srgbClr val="333333"/>
                </a:solidFill>
                <a:latin typeface="Segoe UI"/>
              </a:rPr>
              <a:t>Low</a:t>
            </a:r>
            <a:r>
              <a:rPr sz="1080" i="0" b="0">
                <a:solidFill>
                  <a:srgbClr val="333333"/>
                </a:solidFill>
                <a:latin typeface="Segoe UI"/>
              </a:rPr>
              <a:t>; remove </a:t>
            </a:r>
            <a:r>
              <a:rPr sz="1080" i="0" b="1">
                <a:solidFill>
                  <a:srgbClr val="333333"/>
                </a:solidFill>
                <a:latin typeface="Segoe UI"/>
              </a:rPr>
              <a:t>Web search</a:t>
            </a:r>
            <a:r>
              <a:rPr sz="1080" i="0" b="0">
                <a:solidFill>
                  <a:srgbClr val="333333"/>
                </a:solidFill>
                <a:latin typeface="Segoe UI"/>
              </a:rPr>
              <a:t> if the template added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trace: one model call, no tools, the </a:t>
            </a:r>
            <a:r>
              <a:rPr sz="1080" i="0" b="0">
                <a:solidFill>
                  <a:srgbClr val="0B2E59"/>
                </a:solidFill>
                <a:latin typeface="Consolas"/>
              </a:rPr>
              <a:t>base</a:t>
            </a:r>
            <a:r>
              <a:rPr sz="1080" i="0" b="0">
                <a:solidFill>
                  <a:srgbClr val="333333"/>
                </a:solidFill>
                <a:latin typeface="Segoe UI"/>
              </a:rPr>
              <a:t> block and the token counts.</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One chat span under the agent, no tool calls, and the </a:t>
            </a:r>
            <a:r>
              <a:rPr sz="950" i="1" b="0">
                <a:solidFill>
                  <a:srgbClr val="0B2E59"/>
                </a:solidFill>
                <a:latin typeface="Consolas"/>
              </a:rPr>
              <a:t>base</a:t>
            </a:r>
            <a:r>
              <a:rPr sz="950" i="1" b="0">
                <a:solidFill>
                  <a:srgbClr val="333333"/>
                </a:solidFill>
                <a:latin typeface="Segoe UI"/>
              </a:rPr>
              <a:t> block as the system message.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Foundry agent starts as model + instructions, and that every answer leaves a trace with the model, the instructions and the token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Connect to Foundry IQ</a:t>
            </a:r>
            <a:r>
              <a:rPr sz="1080" i="0" b="0">
                <a:solidFill>
                  <a:srgbClr val="333333"/>
                </a:solidFill>
                <a:latin typeface="Segoe UI"/>
              </a:rPr>
              <a:t> and pick </a:t>
            </a:r>
            <a:r>
              <a:rPr sz="1080" i="0" b="0">
                <a:solidFill>
                  <a:srgbClr val="0B2E59"/>
                </a:solidFill>
                <a:latin typeface="Consolas"/>
              </a:rPr>
              <a:t>livewell-guides-kb</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Parameters</a:t>
            </a:r>
            <a:r>
              <a:rPr sz="1080" i="0" b="0">
                <a:solidFill>
                  <a:srgbClr val="333333"/>
                </a:solidFill>
                <a:latin typeface="Segoe UI"/>
              </a:rPr>
              <a:t> (icon next to Model) → </a:t>
            </a:r>
            <a:r>
              <a:rPr sz="1080" i="0" b="1">
                <a:solidFill>
                  <a:srgbClr val="333333"/>
                </a:solidFill>
                <a:latin typeface="Segoe UI"/>
              </a:rPr>
              <a:t>Text format</a:t>
            </a:r>
            <a:r>
              <a:rPr sz="1080" i="0" b="0">
                <a:solidFill>
                  <a:srgbClr val="333333"/>
                </a:solidFill>
                <a:latin typeface="Segoe UI"/>
              </a:rPr>
              <a:t> JSON Schema: paste </a:t>
            </a:r>
            <a:r>
              <a:rPr sz="1080" i="0" b="0">
                <a:solidFill>
                  <a:srgbClr val="0B2E59"/>
                </a:solidFill>
                <a:latin typeface="Consolas"/>
              </a:rPr>
              <a:t>lab1-answer.schema.json</a:t>
            </a:r>
            <a:r>
              <a:rPr sz="1080" i="0" b="0">
                <a:solidFill>
                  <a:srgbClr val="333333"/>
                </a:solidFill>
                <a:latin typeface="Segoe UI"/>
              </a:rPr>
              <a:t>; save.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the answer cites at least one guide.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retrieval is useful only when the agent is required to cite real sources and admit when the corpus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Safety is measured, not assumed: apply guardrails, prove behaviour with evaluators, and make every decision auditable in a trace.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Note who stops each prompt: the model, Prompt Shields, or nobody (skip meals is only annotated).</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a:t>
            </a:r>
            <a:r>
              <a:rPr sz="1080" i="0" b="1">
                <a:solidFill>
                  <a:srgbClr val="333333"/>
                </a:solidFill>
                <a:latin typeface="Segoe UI"/>
              </a:rPr>
              <a:t>Save</a:t>
            </a:r>
            <a:r>
              <a:rPr sz="1080" i="0" b="0">
                <a:solidFill>
                  <a:srgbClr val="333333"/>
                </a:solidFill>
                <a:latin typeface="Segoe UI"/>
              </a:rPr>
              <a:t>; note the new version number next to your baseline.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the ladder: three additional blocks, including one benign false positive.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blocked/allowed traces; read evaluation code and compare shared results. Do not run a batch.</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sp>
        <p:nvSpPr>
          <p:cNvPr id="28" name="Rectangle 27"/>
          <p:cNvSpPr/>
          <p:nvPr/>
        </p:nvSpPr>
        <p:spPr>
          <a:xfrm>
            <a:off x="6583680" y="1554480"/>
            <a:ext cx="5166360" cy="228600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sp>
        <p:nvSpPr>
          <p:cNvPr id="30" name="Rectangle 29"/>
          <p:cNvSpPr/>
          <p:nvPr/>
        </p:nvSpPr>
        <p:spPr>
          <a:xfrm>
            <a:off x="6583680" y="4206240"/>
            <a:ext cx="5166360" cy="114300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Same question, two guardrails: the medication blocklist in </a:t>
            </a:r>
            <a:r>
              <a:rPr sz="950" i="1" b="0">
                <a:solidFill>
                  <a:srgbClr val="0B2E59"/>
                </a:solidFill>
                <a:latin typeface="Consolas"/>
              </a:rPr>
              <a:t>livewell-guardrails</a:t>
            </a:r>
            <a:r>
              <a:rPr sz="950" i="1" b="0">
                <a:solidFill>
                  <a:srgbClr val="333333"/>
                </a:solidFill>
                <a:latin typeface="Segoe UI"/>
              </a:rPr>
              <a:t> stops it before the model sees it.</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each safety layer (Prompt Shields, thresholds, blocklists, instructions) catches different things, that a stricter guardrail has a cost, and that guardrails, evaluator scores and traces are the evidence for safe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The guardrail ladder: which layer catches what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0B2E59"/>
                </a:solidFill>
                <a:latin typeface="Consolas"/>
              </a:rPr>
              <a:t>demos/guardrail-matrix.py</a:t>
            </a:r>
            <a:r>
              <a:rPr sz="1100" i="0" b="0">
                <a:solidFill>
                  <a:srgbClr val="333333"/>
                </a:solidFill>
                <a:latin typeface="Segoe UI"/>
              </a:rPr>
              <a:t>: </a:t>
            </a:r>
            <a:r>
              <a:rPr sz="1100" i="0" b="0">
                <a:solidFill>
                  <a:srgbClr val="0B2E59"/>
                </a:solidFill>
                <a:latin typeface="Consolas"/>
              </a:rPr>
              <a:t>gpt-5-mini</a:t>
            </a:r>
            <a:r>
              <a:rPr sz="1100" i="0" b="0">
                <a:solidFill>
                  <a:srgbClr val="333333"/>
                </a:solidFill>
                <a:latin typeface="Segoe UI"/>
              </a:rPr>
              <a:t> vs </a:t>
            </a:r>
            <a:r>
              <a:rPr sz="1100" i="0" b="0">
                <a:solidFill>
                  <a:srgbClr val="0B2E59"/>
                </a:solidFill>
                <a:latin typeface="Consolas"/>
              </a:rPr>
              <a:t>gpt-4.1-mini</a:t>
            </a:r>
            <a:r>
              <a:rPr sz="1100" i="0" b="0">
                <a:solidFill>
                  <a:srgbClr val="333333"/>
                </a:solidFill>
                <a:latin typeface="Segoe UI"/>
              </a:rPr>
              <a:t>, default vs custom. Blocks go from 1 of 7 to 4 of 7.</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What can I do indoors near Woodlands, and can you sign me up?”</a:t>
            </a:r>
          </a:p>
          <a:p>
            <a:pPr algn="l">
              <a:spcAft>
                <a:spcPts val="200"/>
              </a:spcAft>
            </a:pPr>
            <a:r>
              <a:rPr sz="1080" i="0" b="0">
                <a:solidFill>
                  <a:srgbClr val="333333"/>
                </a:solidFill>
                <a:latin typeface="Segoe UI"/>
              </a:rPr>
              <a:t>The sign-up is a real write, so it needs his approval.</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Switch the model to </a:t>
            </a:r>
            <a:r>
              <a:rPr sz="1080" i="0" b="0">
                <a:solidFill>
                  <a:srgbClr val="0B2E59"/>
                </a:solidFill>
                <a:latin typeface="Consolas"/>
              </a:rPr>
              <a:t>gpt-4.1-mini</a:t>
            </a:r>
            <a:r>
              <a:rPr sz="1080" i="0" b="0">
                <a:solidFill>
                  <a:srgbClr val="333333"/>
                </a:solidFill>
                <a:latin typeface="Segoe UI"/>
              </a:rPr>
              <a:t>, then add the OpenAPI tool </a:t>
            </a:r>
            <a:r>
              <a:rPr sz="1080" i="0" b="0">
                <a:solidFill>
                  <a:srgbClr val="0B2E59"/>
                </a:solidFill>
                <a:latin typeface="Consolas"/>
              </a:rPr>
              <a:t>livewell_profile</a:t>
            </a:r>
            <a:r>
              <a:rPr sz="1080" i="0" b="0">
                <a:solidFill>
                  <a:srgbClr val="333333"/>
                </a:solidFill>
                <a:latin typeface="Segoe UI"/>
              </a:rPr>
              <a:t> (Builder: the </a:t>
            </a:r>
            <a:r>
              <a:rPr sz="1080" i="0" b="0">
                <a:solidFill>
                  <a:srgbClr val="0B2E59"/>
                </a:solidFill>
                <a:latin typeface="Consolas"/>
              </a:rPr>
              <a:t>get_citizen_profile</a:t>
            </a:r>
            <a:r>
              <a:rPr sz="1080" i="0" b="0">
                <a:solidFill>
                  <a:srgbClr val="333333"/>
                </a:solidFill>
                <a:latin typeface="Segoe UI"/>
              </a:rPr>
              <a:t> function).</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t>
            </a:r>
            <a:r>
              <a:rPr sz="1080" i="0" b="0">
                <a:solidFill>
                  <a:srgbClr val="0B2E59"/>
                </a:solidFill>
                <a:latin typeface="Consolas"/>
              </a:rPr>
              <a:t>livewell-activities-mcp</a:t>
            </a:r>
            <a:r>
              <a:rPr sz="1080" i="0" b="0">
                <a:solidFill>
                  <a:srgbClr val="333333"/>
                </a:solidFill>
                <a:latin typeface="Segoe UI"/>
              </a:rPr>
              <a:t> and require approval for </a:t>
            </a:r>
            <a:r>
              <a:rPr sz="1080" i="0" b="0">
                <a:solidFill>
                  <a:srgbClr val="0B2E59"/>
                </a:solidFill>
                <a:latin typeface="Consolas"/>
              </a:rPr>
              <a:t>register_interest</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Enable </a:t>
            </a:r>
            <a:r>
              <a:rPr sz="1080" i="0" b="1">
                <a:solidFill>
                  <a:srgbClr val="333333"/>
                </a:solidFill>
                <a:latin typeface="Segoe UI"/>
              </a:rPr>
              <a:t>Memory</a:t>
            </a:r>
            <a:r>
              <a:rPr sz="1080" i="0" b="0">
                <a:solidFill>
                  <a:srgbClr val="333333"/>
                </a:solidFill>
                <a:latin typeface="Segoe UI"/>
              </a:rPr>
              <a:t> (preview) and append the </a:t>
            </a:r>
            <a:r>
              <a:rPr sz="1080" i="0" b="0">
                <a:solidFill>
                  <a:srgbClr val="0B2E59"/>
                </a:solidFill>
                <a:latin typeface="Consolas"/>
              </a:rPr>
              <a:t>tools</a:t>
            </a:r>
            <a:r>
              <a:rPr sz="1080" i="0" b="0">
                <a:solidFill>
                  <a:srgbClr val="333333"/>
                </a:solidFill>
                <a:latin typeface="Segoe UI"/>
              </a:rPr>
              <a:t> block.</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lab3_profile_tailored</a:t>
            </a:r>
            <a:r>
              <a:rPr sz="1080" i="0" b="0">
                <a:solidFill>
                  <a:srgbClr val="333333"/>
                </a:solidFill>
                <a:latin typeface="Segoe UI"/>
              </a:rPr>
              <a:t>: the advice uses Rahim's profile.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lab3_hazy_indoor_signup</a:t>
            </a:r>
            <a:r>
              <a:rPr sz="1080" i="0" b="0">
                <a:solidFill>
                  <a:srgbClr val="333333"/>
                </a:solidFill>
                <a:latin typeface="Segoe UI"/>
              </a:rPr>
              <a:t>: indoor options near Woodlands, then </a:t>
            </a:r>
            <a:r>
              <a:rPr sz="1080" i="0" b="1">
                <a:solidFill>
                  <a:srgbClr val="333333"/>
                </a:solidFill>
                <a:latin typeface="Segoe UI"/>
              </a:rPr>
              <a:t>Approve</a:t>
            </a:r>
            <a:r>
              <a:rPr sz="1080" i="0" b="0">
                <a:solidFill>
                  <a:srgbClr val="333333"/>
                </a:solidFill>
                <a:latin typeface="Segoe UI"/>
              </a:rPr>
              <a:t> the sign-up.</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a preference, start a new chat and check the coach remembers it.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write waits for you: </a:t>
            </a:r>
            <a:r>
              <a:rPr sz="950" i="1" b="0">
                <a:solidFill>
                  <a:srgbClr val="0B2E59"/>
                </a:solidFill>
                <a:latin typeface="Consolas"/>
              </a:rPr>
              <a:t>register_interest</a:t>
            </a:r>
            <a:r>
              <a:rPr sz="950" i="1" b="0">
                <a:solidFill>
                  <a:srgbClr val="333333"/>
                </a:solidFill>
                <a:latin typeface="Segoe UI"/>
              </a:rPr>
              <a:t> only runs after Approve.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161995"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740249"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Add governed population evidence to a personal answer, without sending personal data.</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Tools → Add → Fabric IQ</a:t>
            </a:r>
            <a:r>
              <a:rPr sz="1080" i="0" b="0">
                <a:solidFill>
                  <a:srgbClr val="333333"/>
                </a:solidFill>
                <a:latin typeface="Segoe UI"/>
              </a:rPr>
              <a:t> (preview) and pick </a:t>
            </a:r>
            <a:r>
              <a:rPr sz="1080" i="0" b="0">
                <a:solidFill>
                  <a:srgbClr val="0B2E59"/>
                </a:solidFill>
                <a:latin typeface="Consolas"/>
              </a:rPr>
              <a:t>Resident360 Ontology Agent</a:t>
            </a:r>
            <a:r>
              <a:rPr sz="1080" i="0" b="0">
                <a:solidFill>
                  <a:srgbClr val="333333"/>
                </a:solidFill>
                <a:latin typeface="Segoe UI"/>
              </a:rPr>
              <a:t>.</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lab3_programme_fit</a:t>
            </a:r>
            <a:r>
              <a:rPr sz="1080" i="0" b="0">
                <a:solidFill>
                  <a:srgbClr val="333333"/>
                </a:solidFill>
                <a:latin typeface="Segoe UI"/>
              </a:rPr>
              <a:t>: profile → Fabric IQ (age band only) → activities, then approve.</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sp>
        <p:nvSpPr>
          <p:cNvPr id="25" name="Rectangle 24"/>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Programme fit: Rahim's profile, then his age band's retention from Fabric, then a nearby activity.</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Fabric IQ adds governed population evidence to a personal answer, as long as the question sent to it stays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30 min</a:t>
            </a:r>
          </a:p>
        </p:txBody>
      </p:sp>
      <p:sp>
        <p:nvSpPr>
          <p:cNvPr id="8" name="Rounded Rectangle 7"/>
          <p:cNvSpPr/>
          <p:nvPr/>
        </p:nvSpPr>
        <p:spPr>
          <a:xfrm>
            <a:off x="1155801" y="896112"/>
            <a:ext cx="2384755"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browser hands-on + demo</a:t>
            </a:r>
          </a:p>
        </p:txBody>
      </p:sp>
      <p:sp>
        <p:nvSpPr>
          <p:cNvPr id="9" name="Rounded Rectangle 8"/>
          <p:cNvSpPr/>
          <p:nvPr/>
        </p:nvSpPr>
        <p:spPr>
          <a:xfrm>
            <a:off x="361370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4176979" y="896112"/>
            <a:ext cx="2993745"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 · facilitator deploys</a:t>
            </a:r>
          </a:p>
        </p:txBody>
      </p:sp>
      <p:sp>
        <p:nvSpPr>
          <p:cNvPr id="11" name="Rounded Rectangle 10"/>
          <p:cNvSpPr/>
          <p:nvPr/>
        </p:nvSpPr>
        <p:spPr>
          <a:xfrm>
            <a:off x="724387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From playground to production: the same agent behind two doors (portal for people, endpoint for systems), governed by the same policy.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Sequential merges JSON; hand-off ends with Activity's answer.</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browser DevUI using the address and token from the values sheet.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sequential</a:t>
            </a:r>
            <a:r>
              <a:rPr sz="1080" i="0" b="0">
                <a:solidFill>
                  <a:srgbClr val="333333"/>
                </a:solidFill>
                <a:latin typeface="Segoe UI"/>
              </a:rPr>
              <a:t>: Nutrition → Activity → Coach, in a fixed order.</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hand-off</a:t>
            </a:r>
            <a:r>
              <a:rPr sz="1080" i="0" b="0">
                <a:solidFill>
                  <a:srgbClr val="333333"/>
                </a:solidFill>
                <a:latin typeface="Segoe UI"/>
              </a:rPr>
              <a:t>: the model picks the route, ending with Activity's answer.</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Programme-Insights specialist answers Mei's question with Fabric IQ.</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0B2E59"/>
                </a:solidFill>
                <a:latin typeface="Consolas"/>
              </a:rPr>
              <a:t>azd deploy livewell-workshop-hosted</a:t>
            </a:r>
            <a:r>
              <a:rPr sz="1080" i="0" b="0">
                <a:solidFill>
                  <a:srgbClr val="333333"/>
                </a:solidFill>
                <a:latin typeface="Segoe UI"/>
              </a:rPr>
              <a:t> puts the sequential team behind an endpoint.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Smoke-test the endpoint, then compare the hosted trace with the playground trace.</a:t>
            </a:r>
          </a:p>
        </p:txBody>
      </p:sp>
      <p:pic>
        <p:nvPicPr>
          <p:cNvPr id="27" name="Picture 26" descr="image.png"/>
          <p:cNvPicPr>
            <a:picLocks noChangeAspect="1"/>
          </p:cNvPicPr>
          <p:nvPr/>
        </p:nvPicPr>
        <p:blipFill>
          <a:blip r:embed="rId3"/>
          <a:stretch>
            <a:fillRect/>
          </a:stretch>
        </p:blipFill>
        <p:spPr>
          <a:xfrm>
            <a:off x="6583679" y="1611072"/>
            <a:ext cx="5166360" cy="3398111"/>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DevUI hand-off run: each box turns green as that agent finishes; the timeline shows each answer.</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what changes when an agent moves from playground to endpoint: RBAC, policy attachment, versioning and operational traces.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the model decides the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16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19" name="Rounded Rectangle 18"/>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 never answers</a:t>
            </a:r>
          </a:p>
        </p:txBody>
      </p:sp>
      <p:cxnSp>
        <p:nvCxnSpPr>
          <p:cNvPr id="20" name="Connector 19"/>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2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22" name="Rounded Rectangle 21"/>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(1 autonomous turn)</a:t>
            </a:r>
          </a:p>
        </p:txBody>
      </p:sp>
      <p:cxnSp>
        <p:nvCxnSpPr>
          <p:cNvPr id="23" name="Connector 22"/>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then stop</a:t>
            </a:r>
          </a:p>
        </p:txBody>
      </p:sp>
      <p:sp>
        <p:nvSpPr>
          <p:cNvPr id="25" name="Rectangle 24"/>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Hosted</a:t>
            </a:r>
          </a:p>
          <a:p>
            <a:pPr algn="l">
              <a:spcAft>
                <a:spcPts val="500"/>
              </a:spcAft>
            </a:pPr>
            <a:r>
              <a:rPr sz="1050" i="0" b="0">
                <a:solidFill>
                  <a:srgbClr val="FFFFFF"/>
                </a:solidFill>
                <a:latin typeface="Segoe UI"/>
              </a:rPr>
              <a:t>same sequential team, behind an endpoint</a:t>
            </a:r>
          </a:p>
          <a:p>
            <a:pPr algn="l">
              <a:spcAft>
                <a:spcPts val="200"/>
              </a:spcAft>
            </a:pPr>
            <a:r>
              <a:rPr sz="950" i="0" b="0">
                <a:solidFill>
                  <a:srgbClr val="FFFFFF"/>
                </a:solidFill>
                <a:latin typeface="Consolas"/>
              </a:rPr>
              <a:t>hosted-agent-example/main.py</a:t>
            </a:r>
          </a:p>
        </p:txBody>
      </p:sp>
      <p:sp>
        <p:nvSpPr>
          <p:cNvPr id="26" name="Rounded Rectangle 25"/>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ResidentProfile</a:t>
            </a:r>
            <a:r>
              <a:rPr sz="1050" i="0" b="0">
                <a:solidFill>
                  <a:srgbClr val="333333"/>
                </a:solidFill>
                <a:latin typeface="Segoe UI"/>
              </a:rPr>
              <a:t> executor</a:t>
            </a:r>
          </a:p>
        </p:txBody>
      </p:sp>
      <p:cxnSp>
        <p:nvCxnSpPr>
          <p:cNvPr id="27" name="Connector 26"/>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Sequential team </a:t>
            </a:r>
            <a:r>
              <a:rPr sz="1050" i="0" b="0">
                <a:solidFill>
                  <a:srgbClr val="0B2E59"/>
                </a:solidFill>
                <a:latin typeface="Consolas"/>
              </a:rPr>
              <a:t>.as_agent()</a:t>
            </a:r>
          </a:p>
        </p:txBody>
      </p:sp>
      <p:cxnSp>
        <p:nvCxnSpPr>
          <p:cNvPr id="29" name="Connector 28"/>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ResponsesHostServer</a:t>
            </a:r>
          </a:p>
        </p:txBody>
      </p:sp>
      <p:cxnSp>
        <p:nvCxnSpPr>
          <p:cNvPr id="31" name="Connector 30"/>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Foundry: agent identity + </a:t>
            </a:r>
            <a:r>
              <a:rPr sz="1050" i="0" b="0">
                <a:solidFill>
                  <a:srgbClr val="0B2E59"/>
                </a:solidFill>
                <a:latin typeface="Consolas"/>
              </a:rPr>
              <a:t>rai_config</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Programme-Insights</a:t>
            </a:r>
            <a:r>
              <a:rPr sz="1100" i="0" b="0">
                <a:solidFill>
                  <a:srgbClr val="333333"/>
                </a:solidFill>
                <a:latin typeface="Segoe UI"/>
              </a:rPr>
              <a:t> is a separate prompt agent with the Fabric IQ tool, for Mei's questions. Deploy: </a:t>
            </a:r>
            <a:r>
              <a:rPr sz="1100" i="0" b="0">
                <a:solidFill>
                  <a:srgbClr val="0B2E59"/>
                </a:solidFill>
                <a:latin typeface="Consolas"/>
              </a:rPr>
              <a:t>azd deploy livewell-workshop-hosted</a:t>
            </a:r>
            <a:r>
              <a:rPr sz="1100" i="0" b="0">
                <a:solidFill>
                  <a:srgbClr val="333333"/>
                </a:solidFill>
                <a:latin typeface="Segoe UI"/>
              </a:rPr>
              <a:t>; the agent identity gets Foundry User and </a:t>
            </a:r>
            <a:r>
              <a:rPr sz="1100" i="0" b="0">
                <a:solidFill>
                  <a:srgbClr val="0B2E59"/>
                </a:solidFill>
                <a:latin typeface="Consolas"/>
              </a:rPr>
              <a:t>rai_config</a:t>
            </a:r>
            <a:r>
              <a:rPr sz="1100" i="0" b="0">
                <a:solidFill>
                  <a:srgbClr val="333333"/>
                </a:solidFill>
                <a:latin typeface="Segoe UI"/>
              </a:rPr>
              <a:t> attaches </a:t>
            </a:r>
            <a:r>
              <a:rPr sz="1100" i="0" b="0">
                <a:solidFill>
                  <a:srgbClr val="0B2E59"/>
                </a:solidFill>
                <a:latin typeface="Consolas"/>
              </a:rPr>
              <a:t>livewell-guardrails</a:t>
            </a:r>
            <a:r>
              <a:rPr sz="1100" i="0" b="0">
                <a:solidFill>
                  <a:srgbClr val="333333"/>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161995"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69587"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Decide with the table: documents → Foundry IQ; governed business data → Fabric IQ.</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Walk the three Fabric integration paths (all preview).</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Mei's multi-hop question and show what happened inside Fabric.</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sp>
        <p:nvSpPr>
          <p:cNvPr id="27" name="Rectangle 26"/>
          <p:cNvSpPr/>
          <p:nvPr/>
        </p:nvSpPr>
        <p:spPr>
          <a:xfrm>
            <a:off x="6583680" y="1298448"/>
            <a:ext cx="5166360" cy="402336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0B2E59"/>
                </a:solidFill>
                <a:latin typeface="Segoe UI"/>
              </a:rPr>
              <a:t>Text-only reference</a:t>
            </a:r>
          </a:p>
          <a:p>
            <a:pPr algn="l">
              <a:spcAft>
                <a:spcPts val="200"/>
              </a:spcAft>
            </a:pPr>
            <a:r>
              <a:rPr sz="1100" i="0" b="0">
                <a:solidFill>
                  <a:srgbClr val="333333"/>
                </a:solidFill>
                <a:latin typeface="Segoe UI"/>
              </a:rPr>
              <a:t>Follow the current Navigator steps and copy blocks. The older screenshot is awaiting a live refresh.</a:t>
            </a:r>
          </a:p>
        </p:txBody>
      </p:sp>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how to choose the right grounding path before adding tools to an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is a model plus instructions, and instructions alone can make it safe; every answer leaves a trace you can inspect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starts as model + instructions, and that every answer leaves a trace with the model, the instructions and the token counts.</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Retrieval is useful only when the agent is required to cite real sources and admit when the corpus is silent.</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Safety is measured, not assumed: apply guardrails, prove behaviour with evaluators, and make every decision auditable in a trace</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Each safety layer (Prompt Shields, thresholds, blocklists, instructions) catches different things, that a stricter guardrail has a cost, and that guardrails, evaluator scores and traces are the evidence for safe deployment.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add governed population evidence to a personal answer, without sending personal data</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Fabric IQ adds governed population evidence to a personal answer, as long as the question sent to it stays aggregate.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From playground to production: the same agent behind two doors (portal for people, endpoint for systems), governed by the same policy</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What changes when an agent moves from playground to endpoint: RBAC, policy attachment, versioning and operational traces.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How to choose the right grounding path before adding tools to an agent.</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A Foundry agent is a model plus instructions; instructions alone already make it safer.</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