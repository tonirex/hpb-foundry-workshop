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Configure an agent's intended behaviour with a model and instructions, then inspect a response and its trace; one refusal is not proof of safety. Walk the steps on the left; the screenshot shows what success looks like. Close by reading the 'You learned' line aloud: that instructions specify intended behaviour; a successful example is evidence, not a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the screenshot shows what success looks like. Close by reading the 'You learned' line aloud: to verify a retrieved passage against a claim, not treat a citation id or JSON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Compare safety layers using traces and prepared evaluation results; distinguish a refusal, a block, an over-block and an unavailable verdict. Walk the steps on the left; the screenshot shows what success looks like. Close by reading the 'You learned' line aloud: to distinguish observed behaviour from a judge verdict, and a failed verdict from no verdict.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historical examples, not guaranteed classifications. Read the actual trace.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Use governed cohort evidence when guidance alone cannot answer a question, and inspect exactly what information the coach sends to Fabric. Walk the steps on the left; the screenshot shows what success looks like. Close by reading the 'You learned' line aloud: to inspect outgoing arguments and distinguish descriptive cohort evidence from individual advice.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Choose between one agent, sequential and hand-off workflows; use execution evidence to explain the route, then inspect the pre-deployed hosted team. Walk the steps on the left; the screenshot shows what success looks like. Close by reading the 'You learned' line aloud: to distinguish a workflow diagram from execution evidence, and hosting from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agent when sufficient; more agents add latency, cost and failure points. The two prepared workflows compare fixed stages with model-selected hand-offs among permitted targets. This hand-off example stops at Activity rather than merging JSON, so it is not an equal-output speed comparison. Use DevUI outputs and hand-off calls as execution evidence; its Tools panel does not show Foundry-hosted MCP calls. Hosting changes where a workflow runs, not its orchestration pattern. The hosted sequential team is already deployed.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the screenshot shows what success looks like. Close by reading the 'You learned' line aloud: to choose the grounding path and inspect its evidence before adding more tools.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Configure intended behaviour</a:t>
            </a:r>
          </a:p>
          <a:p>
            <a:pPr algn="ctr">
              <a:spcAft>
                <a:spcPts val="200"/>
              </a:spcAft>
            </a:pPr>
            <a:r>
              <a:rPr sz="950" i="0" b="0">
                <a:solidFill>
                  <a:srgbClr val="333333"/>
                </a:solidFill>
                <a:latin typeface="Segoe UI"/>
              </a:rPr>
              <a:t>inspect one execution</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35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30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Compare controls and trade-offs</a:t>
            </a:r>
          </a:p>
          <a:p>
            <a:pPr algn="ctr">
              <a:spcAft>
                <a:spcPts val="200"/>
              </a:spcAft>
            </a:pPr>
            <a:r>
              <a:rPr sz="950" i="0" b="0">
                <a:solidFill>
                  <a:srgbClr val="333333"/>
                </a:solidFill>
                <a:latin typeface="Segoe UI"/>
              </a:rPr>
              <a:t>distinguish errors from verdicts</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30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What can I do indoors near Woodlands, and can you sign me up?”</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10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1:15 comparison · 5:15 hosted proof</a:t>
            </a:r>
          </a:p>
        </p:txBody>
      </p:sp>
      <p:sp>
        <p:nvSpPr>
          <p:cNvPr id="30" name="Chevron 29"/>
          <p:cNvSpPr/>
          <p:nvPr/>
        </p:nvSpPr>
        <p:spPr>
          <a:xfrm>
            <a:off x="854964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a:t>
            </a:r>
          </a:p>
          <a:p>
            <a:pPr algn="ctr">
              <a:defRPr sz="1200" b="1">
                <a:solidFill>
                  <a:srgbClr val="FFFFFF"/>
                </a:solidFill>
                <a:latin typeface="Segoe UI"/>
              </a:defRPr>
            </a:pPr>
            <a:r>
              <a:t>30 min</a:t>
            </a:r>
          </a:p>
        </p:txBody>
      </p:sp>
      <p:sp>
        <p:nvSpPr>
          <p:cNvPr id="31" name="Rectangle 30"/>
          <p:cNvSpPr/>
          <p:nvPr/>
        </p:nvSpPr>
        <p:spPr>
          <a:xfrm>
            <a:off x="854964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Choose a pattern</a:t>
            </a:r>
          </a:p>
          <a:p>
            <a:pPr algn="ctr">
              <a:spcAft>
                <a:spcPts val="200"/>
              </a:spcAft>
            </a:pPr>
            <a:r>
              <a:rPr sz="950" i="0" b="0">
                <a:solidFill>
                  <a:srgbClr val="333333"/>
                </a:solidFill>
                <a:latin typeface="Segoe UI"/>
              </a:rPr>
              <a:t>explain the execution evidence</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8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 · Choose a route</a:t>
            </a:r>
          </a:p>
        </p:txBody>
      </p:sp>
      <p:sp>
        <p:nvSpPr>
          <p:cNvPr id="8" name="Rectangle 7"/>
          <p:cNvSpPr/>
          <p:nvPr/>
        </p:nvSpPr>
        <p:spPr>
          <a:xfrm>
            <a:off x="4023360" y="1024128"/>
            <a:ext cx="4526279"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Compare prebuilt sequential and hand-off teams in DevUI; inspect the already-hosted sequential team. No participant provisioning.</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policy + </a:t>
            </a:r>
            <a:r>
              <a:rPr sz="1150" i="0" b="0">
                <a:solidFill>
                  <a:srgbClr val="0B2E59"/>
                </a:solidFill>
                <a:latin typeface="Consolas"/>
              </a:rPr>
              <a:t>safety</a:t>
            </a:r>
            <a:r>
              <a:rPr sz="1150" i="0" b="0">
                <a:solidFill>
                  <a:srgbClr val="333333"/>
                </a:solidFill>
                <a:latin typeface="Segoe UI"/>
              </a:rPr>
              <a:t> block; traces; the facilitator's pre-run evaluation (look-only); baseline vs guarded version.</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What can I do indoors near Woodlands, and can you sign me up?</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Configure an agent's intended behaviour with a model and instructions, then inspect a response and its trace; one refusal is not proof of safety.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own workshop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the model call and instructions; one refusal does not prove comprehensive safety.</a:t>
            </a:r>
          </a:p>
        </p:txBody>
      </p:sp>
      <p:pic>
        <p:nvPicPr>
          <p:cNvPr id="27" name="Picture 26" descr="image.png"/>
          <p:cNvPicPr>
            <a:picLocks noChangeAspect="1"/>
          </p:cNvPicPr>
          <p:nvPr/>
        </p:nvPicPr>
        <p:blipFill>
          <a:blip r:embed="rId3"/>
          <a:stretch>
            <a:fillRect/>
          </a:stretch>
        </p:blipFill>
        <p:spPr>
          <a:xfrm>
            <a:off x="6583680" y="2175579"/>
            <a:ext cx="5166360" cy="2269096"/>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under the agent, no tool calls, and the </a:t>
            </a:r>
            <a:r>
              <a:rPr sz="950" i="1" b="0">
                <a:solidFill>
                  <a:srgbClr val="0B2E59"/>
                </a:solidFill>
                <a:latin typeface="Consolas"/>
              </a:rPr>
              <a:t>base</a:t>
            </a:r>
            <a:r>
              <a:rPr sz="950" i="1" b="0">
                <a:solidFill>
                  <a:srgbClr val="333333"/>
                </a:solidFill>
                <a:latin typeface="Segoe UI"/>
              </a:rPr>
              <a:t> block as the system message.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instructions specify intended behaviour; a successful example is evidence, not a safety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35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Connect to Foundry IQ</a:t>
            </a:r>
            <a:r>
              <a:rPr sz="1080" i="0" b="0">
                <a:solidFill>
                  <a:srgbClr val="333333"/>
                </a:solidFill>
                <a:latin typeface="Segoe UI"/>
              </a:rPr>
              <a:t> and pick </a:t>
            </a:r>
            <a:r>
              <a:rPr sz="1080" i="0" b="0">
                <a:solidFill>
                  <a:srgbClr val="0B2E59"/>
                </a:solidFill>
                <a:latin typeface="Consolas"/>
              </a:rPr>
              <a:t>livewell-guides-kb</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open a retrieved passage and connect it to an answer claim.</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pic>
        <p:nvPicPr>
          <p:cNvPr id="27" name="Picture 26" descr="image.png"/>
          <p:cNvPicPr>
            <a:picLocks noChangeAspect="1"/>
          </p:cNvPicPr>
          <p:nvPr/>
        </p:nvPicPr>
        <p:blipFill>
          <a:blip r:embed="rId3"/>
          <a:stretch>
            <a:fillRect/>
          </a:stretch>
        </p:blipFill>
        <p:spPr>
          <a:xfrm>
            <a:off x="6625221" y="1298448"/>
            <a:ext cx="5083277"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verify a retrieved passage against a claim, not treat a citation id or JSON as proof of correctness.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2046427"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optional detail L300</a:t>
            </a:r>
          </a:p>
        </p:txBody>
      </p:sp>
      <p:sp>
        <p:nvSpPr>
          <p:cNvPr id="10" name="Rounded Rectangle 9"/>
          <p:cNvSpPr/>
          <p:nvPr/>
        </p:nvSpPr>
        <p:spPr>
          <a:xfrm>
            <a:off x="4582972"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6161227"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Compare safety layers using traces and prepared evaluation results; distinguish a refusal, a block, an over-block and an unavailable verdict.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Identify refusal, block or annotation from the actual trace; outcomes can vary.</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unchanged prompts; inspect useful controls and benign over-blocking.</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Read same-model default/custom demo evaluations: pass, fail and not scored stay separate.</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pic>
        <p:nvPicPr>
          <p:cNvPr id="28" name="Picture 27" descr="image.png"/>
          <p:cNvPicPr>
            <a:picLocks noChangeAspect="1"/>
          </p:cNvPicPr>
          <p:nvPr/>
        </p:nvPicPr>
        <p:blipFill>
          <a:blip r:embed="rId3"/>
          <a:stretch>
            <a:fillRect/>
          </a:stretch>
        </p:blipFill>
        <p:spPr>
          <a:xfrm>
            <a:off x="7233673" y="1554480"/>
            <a:ext cx="3866372" cy="2286000"/>
          </a:xfrm>
          <a:prstGeom prst="rect">
            <a:avLst/>
          </a:prstGeom>
          <a:ln w="12700">
            <a:solidFill>
              <a:srgbClr val="D7E2EA"/>
            </a:solidFill>
          </a:ln>
        </p:spPr>
      </p:pic>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pic>
        <p:nvPicPr>
          <p:cNvPr id="30" name="Picture 29" descr="image.png"/>
          <p:cNvPicPr>
            <a:picLocks noChangeAspect="1"/>
          </p:cNvPicPr>
          <p:nvPr/>
        </p:nvPicPr>
        <p:blipFill>
          <a:blip r:embed="rId4"/>
          <a:stretch>
            <a:fillRect/>
          </a:stretch>
        </p:blipFill>
        <p:spPr>
          <a:xfrm>
            <a:off x="6768730" y="4206240"/>
            <a:ext cx="4796259" cy="1143000"/>
          </a:xfrm>
          <a:prstGeom prst="rect">
            <a:avLst/>
          </a:prstGeom>
          <a:ln w="12700">
            <a:solidFill>
              <a:srgbClr val="D7E2EA"/>
            </a:solidFill>
          </a:ln>
        </p:spPr>
      </p:pic>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Captured example: a model refusal versus an input block. Your trace establishes which layer acted.</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distinguish observed behaviour from a judge verdict, and a failed verdict from no verdict.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Captured ladder examples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333333"/>
                </a:solidFill>
                <a:latin typeface="Segoe UI"/>
              </a:rPr>
              <a:t>Same-model default/custom demo runs. Keep pass, fail and not scored separate; inspect a judge error before treating it as an unsafe verdict.</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2046427"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optional detail L300</a:t>
            </a:r>
          </a:p>
        </p:txBody>
      </p:sp>
      <p:sp>
        <p:nvSpPr>
          <p:cNvPr id="10" name="Rounded Rectangle 9"/>
          <p:cNvSpPr/>
          <p:nvPr/>
        </p:nvSpPr>
        <p:spPr>
          <a:xfrm>
            <a:off x="4582972"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6161227"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What can I do indoors near Woodlands, and can you sign me up?”</a:t>
            </a:r>
          </a:p>
          <a:p>
            <a:pPr algn="l">
              <a:spcAft>
                <a:spcPts val="200"/>
              </a:spcAft>
            </a:pPr>
            <a:r>
              <a:rPr sz="1080" i="0" b="0">
                <a:solidFill>
                  <a:srgbClr val="333333"/>
                </a:solidFill>
                <a:latin typeface="Segoe UI"/>
              </a:rPr>
              <a:t>A write to temporary synthetic records still needs explicit approval; it is not a real booking.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the model to </a:t>
            </a:r>
            <a:r>
              <a:rPr sz="1080" i="0" b="0">
                <a:solidFill>
                  <a:srgbClr val="0B2E59"/>
                </a:solidFill>
                <a:latin typeface="Consolas"/>
              </a:rPr>
              <a:t>gpt-4.1-mini</a:t>
            </a:r>
            <a:r>
              <a:rPr sz="1080" i="0" b="0">
                <a:solidFill>
                  <a:srgbClr val="333333"/>
                </a:solidFill>
                <a:latin typeface="Segoe UI"/>
              </a:rPr>
              <a:t>, then add the OpenAPI tool </a:t>
            </a:r>
            <a:r>
              <a:rPr sz="1080" i="0" b="0">
                <a:solidFill>
                  <a:srgbClr val="0B2E59"/>
                </a:solidFill>
                <a:latin typeface="Consolas"/>
              </a:rPr>
              <a:t>livewell_profile</a:t>
            </a:r>
            <a:r>
              <a:rPr sz="1080" i="0" b="0">
                <a:solidFill>
                  <a:srgbClr val="333333"/>
                </a:solidFill>
                <a:latin typeface="Segoe UI"/>
              </a:rPr>
              <a:t> (Builder: the </a:t>
            </a:r>
            <a:r>
              <a:rPr sz="1080" i="0" b="0">
                <a:solidFill>
                  <a:srgbClr val="0B2E59"/>
                </a:solidFill>
                <a:latin typeface="Consolas"/>
              </a:rPr>
              <a:t>get_citizen_profile</a:t>
            </a:r>
            <a:r>
              <a:rPr sz="1080" i="0" b="0">
                <a:solidFill>
                  <a:srgbClr val="333333"/>
                </a:solidFill>
                <a:latin typeface="Segoe UI"/>
              </a:rPr>
              <a:t> function).</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t>
            </a:r>
            <a:r>
              <a:rPr sz="1080" i="0" b="0">
                <a:solidFill>
                  <a:srgbClr val="0B2E59"/>
                </a:solidFill>
                <a:latin typeface="Consolas"/>
              </a:rPr>
              <a:t>livewell-activities-mcp</a:t>
            </a:r>
            <a:r>
              <a:rPr sz="1080" i="0" b="0">
                <a:solidFill>
                  <a:srgbClr val="333333"/>
                </a:solidFill>
                <a:latin typeface="Segoe UI"/>
              </a:rPr>
              <a:t> and require approval for </a:t>
            </a:r>
            <a:r>
              <a:rPr sz="1080" i="0" b="0">
                <a:solidFill>
                  <a:srgbClr val="0B2E59"/>
                </a:solidFill>
                <a:latin typeface="Consolas"/>
              </a:rPr>
              <a:t>register_interest</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Enable </a:t>
            </a:r>
            <a:r>
              <a:rPr sz="1080" i="0" b="1">
                <a:solidFill>
                  <a:srgbClr val="333333"/>
                </a:solidFill>
                <a:latin typeface="Segoe UI"/>
              </a:rPr>
              <a:t>Memory</a:t>
            </a:r>
            <a:r>
              <a:rPr sz="1080" i="0" b="0">
                <a:solidFill>
                  <a:srgbClr val="333333"/>
                </a:solidFill>
                <a:latin typeface="Segoe UI"/>
              </a:rPr>
              <a:t> (preview) and append the </a:t>
            </a:r>
            <a:r>
              <a:rPr sz="1080" i="0" b="0">
                <a:solidFill>
                  <a:srgbClr val="0B2E59"/>
                </a:solidFill>
                <a:latin typeface="Consolas"/>
              </a:rPr>
              <a:t>tools</a:t>
            </a:r>
            <a:r>
              <a:rPr sz="1080" i="0" b="0">
                <a:solidFill>
                  <a:srgbClr val="333333"/>
                </a:solidFill>
                <a:latin typeface="Segoe UI"/>
              </a:rPr>
              <a:t> block.</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lab3_profile_tailored</a:t>
            </a:r>
            <a:r>
              <a:rPr sz="1080" i="0" b="0">
                <a:solidFill>
                  <a:srgbClr val="333333"/>
                </a:solidFill>
                <a:latin typeface="Segoe UI"/>
              </a:rPr>
              <a:t>: the advice uses Rahim's profile.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lab3_hazy_indoor_signup</a:t>
            </a:r>
            <a:r>
              <a:rPr sz="1080" i="0" b="0">
                <a:solidFill>
                  <a:srgbClr val="333333"/>
                </a:solidFill>
                <a:latin typeface="Segoe UI"/>
              </a:rPr>
              <a:t>: inspect arguments, then </a:t>
            </a:r>
            <a:r>
              <a:rPr sz="1080" i="0" b="1">
                <a:solidFill>
                  <a:srgbClr val="333333"/>
                </a:solidFill>
                <a:latin typeface="Segoe UI"/>
              </a:rPr>
              <a:t>Approve once</a:t>
            </a:r>
            <a:r>
              <a:rPr sz="1080" i="0" b="0">
                <a:solidFill>
                  <a:srgbClr val="333333"/>
                </a:solidFill>
                <a:latin typeface="Segoe UI"/>
              </a:rPr>
              <a:t> or </a:t>
            </a:r>
            <a:r>
              <a:rPr sz="1080" i="0" b="1">
                <a:solidFill>
                  <a:srgbClr val="333333"/>
                </a:solidFill>
                <a:latin typeface="Segoe UI"/>
              </a:rPr>
              <a:t>Deny</a:t>
            </a:r>
            <a:r>
              <a:rPr sz="1080" i="0" b="0">
                <a:solidFill>
                  <a:srgbClr val="333333"/>
                </a:solidFill>
                <a:latin typeface="Segoe UI"/>
              </a:rPr>
              <a: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a preference; in a new chat inspect stored/search evidence, not only plausible wording.</a:t>
            </a:r>
          </a:p>
        </p:txBody>
      </p:sp>
      <p:pic>
        <p:nvPicPr>
          <p:cNvPr id="27" name="Picture 26" descr="image.png"/>
          <p:cNvPicPr>
            <a:picLocks noChangeAspect="1"/>
          </p:cNvPicPr>
          <p:nvPr/>
        </p:nvPicPr>
        <p:blipFill>
          <a:blip r:embed="rId3"/>
          <a:stretch>
            <a:fillRect/>
          </a:stretch>
        </p:blipFill>
        <p:spPr>
          <a:xfrm>
            <a:off x="6583680" y="1844493"/>
            <a:ext cx="5166360" cy="2931268"/>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write waits for you: </a:t>
            </a:r>
            <a:r>
              <a:rPr sz="950" i="1" b="0">
                <a:solidFill>
                  <a:srgbClr val="0B2E59"/>
                </a:solidFill>
                <a:latin typeface="Consolas"/>
              </a:rPr>
              <a:t>register_interest</a:t>
            </a:r>
            <a:r>
              <a:rPr sz="950" i="1" b="0">
                <a:solidFill>
                  <a:srgbClr val="333333"/>
                </a:solidFill>
                <a:latin typeface="Segoe UI"/>
              </a:rPr>
              <a:t> only runs after Approve.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1166774"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preview</a:t>
            </a:r>
          </a:p>
        </p:txBody>
      </p:sp>
      <p:sp>
        <p:nvSpPr>
          <p:cNvPr id="10" name="Rounded Rectangle 9"/>
          <p:cNvSpPr/>
          <p:nvPr/>
        </p:nvSpPr>
        <p:spPr>
          <a:xfrm>
            <a:off x="3838651"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5416905"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Use governed cohort evidence when guidance alone cannot answer a question, and inspect exactly what information the coach sends to Fabric.</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Only when ready: attach </a:t>
            </a:r>
            <a:r>
              <a:rPr sz="1080" i="0" b="1">
                <a:solidFill>
                  <a:srgbClr val="333333"/>
                </a:solidFill>
                <a:latin typeface="Segoe UI"/>
              </a:rPr>
              <a:t>Configured → livewell-fabric-resident360</a:t>
            </a:r>
            <a:r>
              <a:rPr sz="1080" i="0" b="0">
                <a:solidFill>
                  <a:srgbClr val="333333"/>
                </a:solidFill>
                <a:latin typeface="Segoe UI"/>
              </a:rPr>
              <a:t>. Skip if paused.</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the outgoing aggregate question and returned evidence; no personal record goes to Fabric.</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pic>
        <p:nvPicPr>
          <p:cNvPr id="25" name="Picture 24" descr="image.png"/>
          <p:cNvPicPr>
            <a:picLocks noChangeAspect="1"/>
          </p:cNvPicPr>
          <p:nvPr/>
        </p:nvPicPr>
        <p:blipFill>
          <a:blip r:embed="rId3"/>
          <a:stretch>
            <a:fillRect/>
          </a:stretch>
        </p:blipFill>
        <p:spPr>
          <a:xfrm>
            <a:off x="6583680" y="1331522"/>
            <a:ext cx="5166360" cy="3957211"/>
          </a:xfrm>
          <a:prstGeom prst="rect">
            <a:avLst/>
          </a:prstGeom>
          <a:ln w="12700">
            <a:solidFill>
              <a:srgbClr val="D7E2EA"/>
            </a:solidFill>
          </a:ln>
        </p:spPr>
      </p:pic>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Optional captured programme-fit example. The guided core compares an aggregate question with guide retrieval.</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inspect outgoing arguments and distinguish descriptive cohort evidence from individual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258775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1:15 comparison · 5:15 hosted proof</a:t>
            </a:r>
          </a:p>
        </p:txBody>
      </p:sp>
      <p:sp>
        <p:nvSpPr>
          <p:cNvPr id="9" name="Rounded Rectangle 8"/>
          <p:cNvSpPr/>
          <p:nvPr/>
        </p:nvSpPr>
        <p:spPr>
          <a:xfrm>
            <a:off x="3816705" y="896112"/>
            <a:ext cx="1911095"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optional code L300</a:t>
            </a:r>
          </a:p>
        </p:txBody>
      </p:sp>
      <p:sp>
        <p:nvSpPr>
          <p:cNvPr id="10" name="Rounded Rectangle 9"/>
          <p:cNvSpPr/>
          <p:nvPr/>
        </p:nvSpPr>
        <p:spPr>
          <a:xfrm>
            <a:off x="5800953" y="896112"/>
            <a:ext cx="2452420"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Shared browser · optional Builder</a:t>
            </a:r>
          </a:p>
        </p:txBody>
      </p:sp>
      <p:sp>
        <p:nvSpPr>
          <p:cNvPr id="11" name="Rounded Rectangle 10"/>
          <p:cNvSpPr/>
          <p:nvPr/>
        </p:nvSpPr>
        <p:spPr>
          <a:xfrm>
            <a:off x="832652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Choose between one agent, sequential and hand-off workflows; use execution evidence to explain the route, then inspect the pre-deployed hosted team.</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Same request, different control flow and final answerer.</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Click the facilitator's private expiring link: LiveWell sequential opens. No token entry or deployment.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Predict</a:t>
            </a:r>
            <a:r>
              <a:rPr sz="1080" i="0" b="0">
                <a:solidFill>
                  <a:srgbClr val="333333"/>
                </a:solidFill>
                <a:latin typeface="Segoe UI"/>
              </a:rPr>
              <a:t> who is needed for </a:t>
            </a:r>
            <a:r>
              <a:rPr sz="1080" i="0" b="0">
                <a:solidFill>
                  <a:srgbClr val="0B2E59"/>
                </a:solidFill>
                <a:latin typeface="Consolas"/>
              </a:rPr>
              <a:t>lab4_week_plan_handoff</a:t>
            </a:r>
            <a:r>
              <a:rPr sz="1080" i="0" b="0">
                <a:solidFill>
                  <a:srgbClr val="333333"/>
                </a:solidFill>
                <a:latin typeface="Segoe UI"/>
              </a:rPr>
              <a:t>, then run each prepared team.</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Sequential</a:t>
            </a:r>
            <a:r>
              <a:rPr sz="1080" i="0" b="0">
                <a:solidFill>
                  <a:srgbClr val="333333"/>
                </a:solidFill>
                <a:latin typeface="Segoe UI"/>
              </a:rPr>
              <a:t> ends with Coach-merged JSON; </a:t>
            </a:r>
            <a:r>
              <a:rPr sz="1080" i="0" b="1">
                <a:solidFill>
                  <a:srgbClr val="333333"/>
                </a:solidFill>
                <a:latin typeface="Segoe UI"/>
              </a:rPr>
              <a:t>hand-off</a:t>
            </a:r>
            <a:r>
              <a:rPr sz="1080" i="0" b="0">
                <a:solidFill>
                  <a:srgbClr val="333333"/>
                </a:solidFill>
                <a:latin typeface="Segoe UI"/>
              </a:rPr>
              <a:t> ends with Activity's answer.</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1">
                <a:solidFill>
                  <a:srgbClr val="333333"/>
                </a:solidFill>
                <a:latin typeface="Segoe UI"/>
              </a:rPr>
              <a:t>Output</a:t>
            </a:r>
            <a:r>
              <a:rPr sz="1080" i="0" b="0">
                <a:solidFill>
                  <a:srgbClr val="333333"/>
                </a:solidFill>
                <a:latin typeface="Segoe UI"/>
              </a:rPr>
              <a:t> and </a:t>
            </a:r>
            <a:r>
              <a:rPr sz="1080" i="0" b="1">
                <a:solidFill>
                  <a:srgbClr val="333333"/>
                </a:solidFill>
                <a:latin typeface="Segoe UI"/>
              </a:rPr>
              <a:t>Tools</a:t>
            </a:r>
            <a:r>
              <a:rPr sz="1080" i="0" b="0">
                <a:solidFill>
                  <a:srgbClr val="333333"/>
                </a:solidFill>
                <a:latin typeface="Segoe UI"/>
              </a:rPr>
              <a:t>: hand-off calls, not graph edges, prove control transferred.</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Try </a:t>
            </a:r>
            <a:r>
              <a:rPr sz="1080" i="0" b="0">
                <a:solidFill>
                  <a:srgbClr val="0B2E59"/>
                </a:solidFill>
                <a:latin typeface="Consolas"/>
              </a:rPr>
              <a:t>lab4_activity_only</a:t>
            </a:r>
            <a:r>
              <a:rPr sz="1080" i="0" b="0">
                <a:solidFill>
                  <a:srgbClr val="333333"/>
                </a:solidFill>
                <a:latin typeface="Segoe UI"/>
              </a:rPr>
              <a:t>: hand-off should skip Nutrition. Compare routes, not promised speed.</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At 5:15 inspect the already-hosted sequential team. Fabric is an optional separate extension.</a:t>
            </a:r>
          </a:p>
        </p:txBody>
      </p:sp>
      <p:pic>
        <p:nvPicPr>
          <p:cNvPr id="27" name="Picture 26" descr="image.png"/>
          <p:cNvPicPr>
            <a:picLocks noChangeAspect="1"/>
          </p:cNvPicPr>
          <p:nvPr/>
        </p:nvPicPr>
        <p:blipFill>
          <a:blip r:embed="rId3"/>
          <a:stretch>
            <a:fillRect/>
          </a:stretch>
        </p:blipFill>
        <p:spPr>
          <a:xfrm>
            <a:off x="6583680" y="1527733"/>
            <a:ext cx="5166360" cy="3564788"/>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Graph ≠ execution. Read outputs and hand-off calls; two calls plus two results make four Tools entries.</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distinguish a workflow diagram from execution evidence, and hosting from orchestration.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One agent</a:t>
            </a:r>
          </a:p>
          <a:p>
            <a:pPr algn="l">
              <a:spcAft>
                <a:spcPts val="500"/>
              </a:spcAft>
            </a:pPr>
            <a:r>
              <a:rPr sz="1050" i="0" b="0">
                <a:solidFill>
                  <a:srgbClr val="FFFFFF"/>
                </a:solidFill>
                <a:latin typeface="Segoe UI"/>
              </a:rPr>
              <a:t>start here when sufficient</a:t>
            </a:r>
          </a:p>
          <a:p>
            <a:pPr algn="l">
              <a:spcAft>
                <a:spcPts val="200"/>
              </a:spcAft>
            </a:pPr>
            <a:r>
              <a:rPr sz="950" i="0" b="0">
                <a:solidFill>
                  <a:srgbClr val="FFFFFF"/>
                </a:solidFill>
                <a:latin typeface="Segoe UI"/>
              </a:rPr>
              <a:t>Design choice; no extra lab run</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One agent with tools</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Retrieve or act</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One answer</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9" name="Connector 18"/>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21" name="Connector 20"/>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23" name="Rectangle 22"/>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model selects a permitted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24" name="Rounded Rectangle 23"/>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25" name="Connector 24"/>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a:t>
            </a:r>
          </a:p>
        </p:txBody>
      </p:sp>
      <p:cxnSp>
        <p:nvCxnSpPr>
          <p:cNvPr id="27" name="Connector 26"/>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702552" y="5175504"/>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29" name="Rounded Rectangle 28"/>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if needed</a:t>
            </a:r>
          </a:p>
        </p:txBody>
      </p:sp>
      <p:cxnSp>
        <p:nvCxnSpPr>
          <p:cNvPr id="30" name="Connector 29"/>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988552" y="5175504"/>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answers; no merge</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Hosted proof at 5:15:</a:t>
            </a:r>
            <a:r>
              <a:rPr sz="1100" i="0" b="0">
                <a:solidFill>
                  <a:srgbClr val="333333"/>
                </a:solidFill>
                <a:latin typeface="Segoe UI"/>
              </a:rPr>
              <a:t> the prepared sequential team adds a profile step, identity and guardrail. Hosting is not a third routing pattern. </a:t>
            </a:r>
            <a:r>
              <a:rPr sz="1100" i="0" b="1">
                <a:solidFill>
                  <a:srgbClr val="333333"/>
                </a:solidFill>
                <a:latin typeface="Segoe UI"/>
              </a:rPr>
              <a:t>Fabric is optional</a:t>
            </a:r>
            <a:r>
              <a:rPr sz="1100" i="0" b="0">
                <a:solidFill>
                  <a:srgbClr val="333333"/>
                </a:solidFill>
                <a:latin typeface="Segoe UI"/>
              </a:rPr>
              <a:t> and separate from both DevUI teams.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557784"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8 min</a:t>
            </a:r>
          </a:p>
        </p:txBody>
      </p:sp>
      <p:sp>
        <p:nvSpPr>
          <p:cNvPr id="8" name="Rounded Rectangle 7"/>
          <p:cNvSpPr/>
          <p:nvPr/>
        </p:nvSpPr>
        <p:spPr>
          <a:xfrm>
            <a:off x="1088136"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31059"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094329"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0192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Explain our source choices, not exclusive product capabilities.</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Ontology context guides source-native SQL, KQL or DAX; the source executes it.</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Use captured evidence; legacy GQL replay is historical, not current runtime proof.</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pic>
        <p:nvPicPr>
          <p:cNvPr id="27" name="Picture 26" descr="image.png"/>
          <p:cNvPicPr>
            <a:picLocks noChangeAspect="1"/>
          </p:cNvPicPr>
          <p:nvPr/>
        </p:nvPicPr>
        <p:blipFill>
          <a:blip r:embed="rId3"/>
          <a:stretch>
            <a:fillRect/>
          </a:stretch>
        </p:blipFill>
        <p:spPr>
          <a:xfrm>
            <a:off x="6583680" y="1807853"/>
            <a:ext cx="5166360" cy="3004549"/>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choose the grounding path and inspect its evidence before adding more tools.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Configure an agent's intended behaviour with a model and instructions, then inspect a response and its trace; one refusal is not proof of safety</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Instructions specify intended behaviour; a successful example is evidence, not a safety guarantee.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35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To verify a retrieved passage against a claim, not treat a citation id or JSON as proof of correctness.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Compare safety layers using traces and prepared evaluation results; distinguish a refusal, a block, an over-block and an unavailable verdict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To distinguish observed behaviour from a judge verdict, and a failed verdict from no verdict.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use governed cohort evidence when guidance alone cannot answer a question, and inspect exactly what information the coach sends to Fabric</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To inspect outgoing arguments and distinguish descriptive cohort evidence from individual advice.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Choose between one agent, sequential and hand-off workflows; use execution evidence to explain the route, then inspect the pre-deployed hosted team</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To distinguish a workflow diagram from execution evidence, and hosting from orchestration.</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8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To choose the grounding path and inspect its evidence before adding more tools.</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Configure intended behaviour, then inspect evidence; one refusal is not a safety guarantee.</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